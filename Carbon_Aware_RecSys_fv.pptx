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  <p:sldId id="274" r:id="rId19"/>
    <p:sldId id="276" r:id="rId20"/>
    <p:sldId id="277" r:id="rId21"/>
    <p:sldId id="278" r:id="rId22"/>
    <p:sldId id="279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58996"/>
  </p:normalViewPr>
  <p:slideViewPr>
    <p:cSldViewPr snapToGrid="0" snapToObjects="1">
      <p:cViewPr>
        <p:scale>
          <a:sx n="132" d="100"/>
          <a:sy n="132" d="100"/>
        </p:scale>
        <p:origin x="832" y="-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9897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D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slide shows the cleanest version of the main result. </a:t>
            </a:r>
          </a:p>
          <a:p>
            <a:endParaRPr lang="en-GB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Electronics, both BPR and </a:t>
            </a:r>
            <a:r>
              <a:rPr lang="en-GB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LightGCN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have a long plateau where NDCG@10 stays almost flat, while AvgPCF@10 decreases steadily.”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“The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green shaded area: engagement-only baseline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This is our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practical operating region: carbon is improving and the recommendation quality has not yet degraded much.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</a:p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important takeaway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not the exact cliff location, but the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existence of a wide region where carbon improves before recommendation quality breaks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en-GB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NeuMF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behaves differently from BPR and </a:t>
            </a:r>
            <a:r>
              <a:rPr lang="en-GB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LightGCN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It has the highest baseline NDCG, but its trade-off curve is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less flexible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category-dependent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</a:p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“In Electronics, carbon-aware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reranking hurts </a:t>
            </a:r>
            <a:r>
              <a:rPr lang="en-GB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NeuMF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earlier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This suggests that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NeuMF’s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ranking scores are more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peaked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model is more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confident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about its preferred ordering, so changing that ordering has a larger engagement cost.”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“In Sports &amp; Outdoors, the decline is more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gradual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but 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still follows the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expected pattern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more carbon weight eventually reduces NDCG.”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“The unusual case is Home &amp; Kitchen.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reranking improves both NDCG and </a:t>
            </a:r>
            <a:r>
              <a:rPr lang="en-GB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AvgPCF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“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think this is an empirical exception, not a universal claim.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result could also be influenced by the leave-one-out evaluation and top-10 cutoff, so we present it as a category-specific pattern rather than a general property of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NeuMF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</a:p>
          <a:p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“Post-hoc reranking can improve NDCG because the base model is not optimized directly for final top-10 NDCG. The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reranker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correct local ordering errors within the candidate set.” - we see this as a result of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NeuMF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being a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sophisticated candidate generator and having more expressive power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we think that this is the reason for it being more category dependent.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message: no model dominates; there is a quality-flexibility trade-off.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Say: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Pareto plot compares the operating points across models for Electronics.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Points toward the upper-left are better: higher NDCG and lower carbon.”</a:t>
            </a:r>
          </a:p>
          <a:p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en-GB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NeuMF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clearly reaches the highest absolute NDCG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So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the only objective is engagement, </a:t>
            </a:r>
            <a:r>
              <a:rPr lang="en-GB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NeuMF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the strongest model here.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“But when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NeuMF’s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high-quality points are exposed for carbon reduction, engagement degrades fast - its frontier becomes less flexible.”</a:t>
            </a:r>
          </a:p>
          <a:p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“BPR and </a:t>
            </a:r>
            <a:r>
              <a:rPr lang="en-GB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LightGCN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 from lower NDCG, but they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let us reduce </a:t>
            </a:r>
            <a:r>
              <a:rPr lang="en-GB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AvgPCF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less immediate engagement loss.”</a:t>
            </a: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Address the fault/caveat:</a:t>
            </a: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Preferred model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depends on the operating point.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If the platform cares most about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absolute engagement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NeuMF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may be preferred. If it cares about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low-cost carbon reduction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BPR or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LightGCN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may be better.”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Good closing line:</a:t>
            </a:r>
          </a:p>
          <a:p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“The model is not just a performance choice; it changes the shape of the sustainability trade-off.”</a:t>
            </a: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message: category matters as much as model.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Say: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“This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heatmap summarizes maximum carbon reduction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while limiting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NDCG degradation to at most 5 percent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“The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strongest category-level result is Home &amp; Kitchen.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 three models achieve above 80 percent estimated carbon reduction within the 5 percent NDCG budget.”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“Electronics is the most model-sensitive category. BPR and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LightGCN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show large carbon headroom, but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NeuMF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only reaches 7.6 percent within the same budget.”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“Sports &amp; Outdoors is in between. There is still meaningful carbon reduction, but the achievable reduction is less uniform across models.”</a:t>
            </a:r>
          </a:p>
          <a:p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“The main point is that carbon-aware reranking is not one-size-fits-all. The category’s product mix and the recommender’s score structure interact.”</a:t>
            </a: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Another caveat:</a:t>
            </a: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“The 5 percent threshold is an analytical choice. It is useful for comparing settings, but a real platform would choose the acceptable quality loss based on business or policy constraints.”</a:t>
            </a: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“To summarize, we find four things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catalog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-scale PCF estimation is feasible enough to support downstream experiments, though it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remains estimated rather than measured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“Second, post-hoc reranking can create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favorable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engagement-carbon trade-offs, especially for BPR and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LightGCN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“Third, the trade-off is model-dependent. </a:t>
            </a:r>
            <a:r>
              <a:rPr lang="en-GB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NeuMF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gives the strongest engagement baseline, but less low-cost carbon flexibility,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especially in Electronics.”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“Fourth, the trade-off is also category-dependent.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Home &amp; Kitchen is consistently the most flexible category, while Electronics is the most model-sensitive.”</a:t>
            </a: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D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DB5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  ·  CS 294 Designing Algorithmic Media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Trading Engagement for Sustainability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CBE5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Carbon-Aware Re-ranking for E-commerce Recommendations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3749040"/>
            <a:ext cx="3200400" cy="0"/>
          </a:xfrm>
          <a:prstGeom prst="line">
            <a:avLst/>
          </a:prstGeom>
          <a:noFill/>
          <a:ln w="12700">
            <a:solidFill>
              <a:srgbClr val="6BAA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40080" y="402336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8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 Vestrum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8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Jørgen Bergh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8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Noah Lund Syrdal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394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DB5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California, Berkeley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65615" y="5394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9DB5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Carbon-Aware Re-ranking for E-commerce Recommendations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20095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11277295" cy="0"/>
          </a:xfrm>
          <a:prstGeom prst="line">
            <a:avLst/>
          </a:prstGeom>
          <a:noFill/>
          <a:ln w="6350">
            <a:solidFill>
              <a:srgbClr val="D8DBE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and Motivation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carbon-aware recommendation now: policy, Scope 3, and algorithmic accountability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8DBE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294 DAM  ·  Spring 2026  ·  UC Berkeley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6400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Regulation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Climate policy is shifting from operations to products</a:t>
            </a:r>
            <a:br>
              <a:rPr lang="en-US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For e-commerce, emissions are dominated by Scope 3</a:t>
            </a:r>
            <a:br>
              <a:rPr lang="en-US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This makes platforms accountable for what they recommend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Systems roles under the regulations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RECSYSs determine which products users see and therefore shape demand and emissions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But current systems optimize only for engagement</a:t>
            </a:r>
            <a:br>
              <a:rPr lang="en-US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This creates a gap between regulation and algorithms.</a:t>
            </a:r>
            <a:br>
              <a:rPr lang="en-US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The DSA requires transparency and control, but current models lack a sustainability dimension.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dirty="0">
              <a:solidFill>
                <a:srgbClr val="00532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solidFill>
                  <a:srgbClr val="00532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address this with a controllable re-ranking mechanism.</a:t>
            </a:r>
            <a:br>
              <a:rPr lang="en-US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A single parameter (</a:t>
            </a:r>
            <a:r>
              <a:rPr lang="en-US" alt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λ</a:t>
            </a:r>
            <a:r>
              <a:rPr lang="en-US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) trades off engagement and carbon without retraining models.</a:t>
            </a:r>
          </a:p>
        </p:txBody>
      </p:sp>
      <p:sp>
        <p:nvSpPr>
          <p:cNvPr id="11" name="Shape 9"/>
          <p:cNvSpPr/>
          <p:nvPr/>
        </p:nvSpPr>
        <p:spPr>
          <a:xfrm>
            <a:off x="7498080" y="1828800"/>
            <a:ext cx="4114800" cy="3474720"/>
          </a:xfrm>
          <a:prstGeom prst="rect">
            <a:avLst/>
          </a:prstGeom>
          <a:solidFill>
            <a:srgbClr val="ECEEEC"/>
          </a:solidFill>
          <a:ln w="6350">
            <a:solidFill>
              <a:srgbClr val="D8DBE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2" name="Text 10"/>
          <p:cNvSpPr/>
          <p:nvPr/>
        </p:nvSpPr>
        <p:spPr>
          <a:xfrm>
            <a:off x="7680960" y="1965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pressures converge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680960" y="2377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Regulation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680960" y="26517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CSRD, DSA, and the Digital Product Passport shift per-item sustainability disclosure from voluntary to mandatory.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80960" y="3337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Scope 3 dominance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80960" y="36118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Purchased goods and customer use dwarf operational emissions for most retailers, so ranking decisions carry climate weight.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80960" y="4297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Algorithmic accountability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80960" y="45720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Interventions must be transparent and auditable, not entangled inside opaque ranking models.</a:t>
            </a:r>
            <a:endParaRPr 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8EE2C8-4F0B-4A2E-4D61-4109DF146B92}"/>
              </a:ext>
            </a:extLst>
          </p:cNvPr>
          <p:cNvSpPr txBox="1"/>
          <p:nvPr/>
        </p:nvSpPr>
        <p:spPr>
          <a:xfrm>
            <a:off x="6960349" y="5532120"/>
            <a:ext cx="52817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Policy → Scope 3 → Recommenders → Need control → Our method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Carbon-Aware Re-ranking for E-commerce Recommendations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20095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11277295" cy="0"/>
          </a:xfrm>
          <a:prstGeom prst="line">
            <a:avLst/>
          </a:prstGeom>
          <a:noFill/>
          <a:ln w="6350">
            <a:solidFill>
              <a:srgbClr val="D8DBE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Setting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in catalog-scale recommendation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8DBE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294 DAM  ·  Spring 2026  ·  UC Berkeley</a:t>
            </a:r>
            <a:endParaRPr lang="en-US" sz="900" dirty="0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9C86B7B4-E825-8E9E-C2D7-B4991D2FC161}"/>
              </a:ext>
            </a:extLst>
          </p:cNvPr>
          <p:cNvSpPr/>
          <p:nvPr/>
        </p:nvSpPr>
        <p:spPr>
          <a:xfrm>
            <a:off x="548640" y="2081348"/>
            <a:ext cx="5906589" cy="4045128"/>
          </a:xfrm>
          <a:prstGeom prst="rect">
            <a:avLst/>
          </a:prstGeom>
          <a:solidFill>
            <a:srgbClr val="ECEEEC"/>
          </a:solidFill>
          <a:ln w="6350">
            <a:solidFill>
              <a:srgbClr val="D8DBE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ECB8C7C0-2950-66DF-9A4A-1895B88B0FB8}"/>
              </a:ext>
            </a:extLst>
          </p:cNvPr>
          <p:cNvSpPr/>
          <p:nvPr/>
        </p:nvSpPr>
        <p:spPr>
          <a:xfrm>
            <a:off x="990600" y="24460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Two-part problem</a:t>
            </a:r>
            <a:endParaRPr lang="en-US" sz="140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67F5BD8A-2FCA-55A0-823C-A35BF3C8C2E5}"/>
              </a:ext>
            </a:extLst>
          </p:cNvPr>
          <p:cNvSpPr/>
          <p:nvPr/>
        </p:nvSpPr>
        <p:spPr>
          <a:xfrm>
            <a:off x="990600" y="28575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PCF estimation</a:t>
            </a:r>
            <a:endParaRPr lang="en-US" sz="1500" dirty="0"/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DD402A61-6747-563B-A59F-910C5D4CFD6A}"/>
              </a:ext>
            </a:extLst>
          </p:cNvPr>
          <p:cNvSpPr/>
          <p:nvPr/>
        </p:nvSpPr>
        <p:spPr>
          <a:xfrm>
            <a:off x="990600" y="32232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 kg CO₂e per item from product metadata using a small set of LCA-labeled products.</a:t>
            </a:r>
            <a:endParaRPr lang="en-US" sz="1300" dirty="0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34365F6C-41F8-6A0C-DEE4-2651A09A520F}"/>
              </a:ext>
            </a:extLst>
          </p:cNvPr>
          <p:cNvSpPr/>
          <p:nvPr/>
        </p:nvSpPr>
        <p:spPr>
          <a:xfrm>
            <a:off x="990600" y="42291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Carbon-aware ranking</a:t>
            </a:r>
            <a:endParaRPr lang="en-US" sz="1500" dirty="0"/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F8F28765-C67A-3B0C-84D8-9B2617936CB3}"/>
              </a:ext>
            </a:extLst>
          </p:cNvPr>
          <p:cNvSpPr/>
          <p:nvPr/>
        </p:nvSpPr>
        <p:spPr>
          <a:xfrm>
            <a:off x="990600" y="45948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estimated PCF into the ranking stage with a transparent trade-off against predicted engagement.</a:t>
            </a:r>
            <a:endParaRPr lang="en-US" sz="1300" dirty="0"/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43FEBCF8-BDEC-E4F6-6D95-E2E72477F3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48093" y="2216328"/>
            <a:ext cx="6143907" cy="36140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Carbon-Aware Re-ranking for E-commerce Recommendations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20095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11277295" cy="0"/>
          </a:xfrm>
          <a:prstGeom prst="line">
            <a:avLst/>
          </a:prstGeom>
          <a:noFill/>
          <a:ln w="6350">
            <a:solidFill>
              <a:srgbClr val="D8DBE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Questions and Contributions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8DBE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294 DAM  ·  Spring 2026  ·  UC Berkeley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19456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carbon-aware re-ranking affect recommendation quality across different recommendation models?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32004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carbon reduction is achievable before recommendation quality degrades?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2062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42062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different recommendation backbones expose different engagement–carbon trade-offs?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66560" y="1783080"/>
            <a:ext cx="4892040" cy="4297680"/>
          </a:xfrm>
          <a:prstGeom prst="rect">
            <a:avLst/>
          </a:prstGeom>
          <a:solidFill>
            <a:srgbClr val="ECEEEC"/>
          </a:solidFill>
          <a:ln w="6350">
            <a:solidFill>
              <a:srgbClr val="D8DBE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6" name="Text 14"/>
          <p:cNvSpPr/>
          <p:nvPr/>
        </p:nvSpPr>
        <p:spPr>
          <a:xfrm>
            <a:off x="694944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Contributions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49440" y="228600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PCF estimation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supervision from 866 LCA-labeled products to an unlabeled e-commerce catalog.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Pareto analysis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curves for BPR, NeuMF, and LightGCN across three product categories.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post-hoc re-ranking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explicit parameter λ controls the carbon-vs-engagement trade-off.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Carbon-Aware Re-ranking for E-commerce Recommendations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20095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11277295" cy="0"/>
          </a:xfrm>
          <a:prstGeom prst="line">
            <a:avLst/>
          </a:prstGeom>
          <a:noFill/>
          <a:ln w="6350">
            <a:solidFill>
              <a:srgbClr val="D8DBE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Overall Pipeline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catalog data to carbon-aware Top-k output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8DBE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294 DAM  ·  Spring 2026  ·  UC Berkeley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PCF estimation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2011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1" name="Text 9"/>
          <p:cNvSpPr/>
          <p:nvPr/>
        </p:nvSpPr>
        <p:spPr>
          <a:xfrm>
            <a:off x="548640" y="234086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Catalogue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" y="2697480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866 LCA-labeled products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2724912"/>
            <a:ext cx="5029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  <a:tailEnd type="triangle"/>
          </a:ln>
        </p:spPr>
        <p:txBody>
          <a:bodyPr/>
          <a:lstStyle/>
          <a:p>
            <a:endParaRPr lang="en-NO"/>
          </a:p>
        </p:txBody>
      </p:sp>
      <p:sp>
        <p:nvSpPr>
          <p:cNvPr id="14" name="Shape 12"/>
          <p:cNvSpPr/>
          <p:nvPr/>
        </p:nvSpPr>
        <p:spPr>
          <a:xfrm>
            <a:off x="3108960" y="2286000"/>
            <a:ext cx="22860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5" name="Text 13"/>
          <p:cNvSpPr/>
          <p:nvPr/>
        </p:nvSpPr>
        <p:spPr>
          <a:xfrm>
            <a:off x="3108960" y="234086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PCF estimator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82112" y="2697480"/>
            <a:ext cx="213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retrieval-augmented LLM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40680" y="2724912"/>
            <a:ext cx="5029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  <a:tailEnd type="triangle"/>
          </a:ln>
        </p:spPr>
        <p:txBody>
          <a:bodyPr/>
          <a:lstStyle/>
          <a:p>
            <a:endParaRPr lang="en-NO"/>
          </a:p>
        </p:txBody>
      </p:sp>
      <p:sp>
        <p:nvSpPr>
          <p:cNvPr id="18" name="Shape 16"/>
          <p:cNvSpPr/>
          <p:nvPr/>
        </p:nvSpPr>
        <p:spPr>
          <a:xfrm>
            <a:off x="5943600" y="2286000"/>
            <a:ext cx="21945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9" name="Text 17"/>
          <p:cNvSpPr/>
          <p:nvPr/>
        </p:nvSpPr>
        <p:spPr>
          <a:xfrm>
            <a:off x="5943600" y="234086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PCF(i) for items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16752" y="2697480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CO₂e per item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611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931920"/>
            <a:ext cx="2011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3" name="Text 21"/>
          <p:cNvSpPr/>
          <p:nvPr/>
        </p:nvSpPr>
        <p:spPr>
          <a:xfrm>
            <a:off x="548640" y="398678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Reviews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" y="4343400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user–item interactions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606040" y="4370832"/>
            <a:ext cx="5029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  <a:tailEnd type="triangle"/>
          </a:ln>
        </p:spPr>
        <p:txBody>
          <a:bodyPr/>
          <a:lstStyle/>
          <a:p>
            <a:endParaRPr lang="en-NO"/>
          </a:p>
        </p:txBody>
      </p:sp>
      <p:sp>
        <p:nvSpPr>
          <p:cNvPr id="26" name="Shape 24"/>
          <p:cNvSpPr/>
          <p:nvPr/>
        </p:nvSpPr>
        <p:spPr>
          <a:xfrm>
            <a:off x="3108960" y="3931920"/>
            <a:ext cx="22860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7" name="Text 25"/>
          <p:cNvSpPr/>
          <p:nvPr/>
        </p:nvSpPr>
        <p:spPr>
          <a:xfrm>
            <a:off x="3108960" y="39867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generator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182112" y="4343400"/>
            <a:ext cx="213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BPR  ·  NeuMF  ·  LightGCN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40680" y="4370832"/>
            <a:ext cx="5029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  <a:tailEnd type="triangle"/>
          </a:ln>
        </p:spPr>
        <p:txBody>
          <a:bodyPr/>
          <a:lstStyle/>
          <a:p>
            <a:endParaRPr lang="en-NO"/>
          </a:p>
        </p:txBody>
      </p:sp>
      <p:sp>
        <p:nvSpPr>
          <p:cNvPr id="30" name="Shape 28"/>
          <p:cNvSpPr/>
          <p:nvPr/>
        </p:nvSpPr>
        <p:spPr>
          <a:xfrm>
            <a:off x="5943600" y="3931920"/>
            <a:ext cx="21945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31" name="Text 29"/>
          <p:cNvSpPr/>
          <p:nvPr/>
        </p:nvSpPr>
        <p:spPr>
          <a:xfrm>
            <a:off x="5943600" y="39867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Top-100 candidates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016752" y="4343400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user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138160" y="2724912"/>
            <a:ext cx="54864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34" name="Shape 32"/>
          <p:cNvSpPr/>
          <p:nvPr/>
        </p:nvSpPr>
        <p:spPr>
          <a:xfrm>
            <a:off x="8686800" y="2724912"/>
            <a:ext cx="0" cy="8229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35" name="Shape 33"/>
          <p:cNvSpPr/>
          <p:nvPr/>
        </p:nvSpPr>
        <p:spPr>
          <a:xfrm>
            <a:off x="8138160" y="4370832"/>
            <a:ext cx="54864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36" name="Shape 34"/>
          <p:cNvSpPr/>
          <p:nvPr/>
        </p:nvSpPr>
        <p:spPr>
          <a:xfrm>
            <a:off x="8686800" y="3547872"/>
            <a:ext cx="0" cy="8229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37" name="Shape 35"/>
          <p:cNvSpPr/>
          <p:nvPr/>
        </p:nvSpPr>
        <p:spPr>
          <a:xfrm>
            <a:off x="8686800" y="3547872"/>
            <a:ext cx="3657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  <a:tailEnd type="triangle"/>
          </a:ln>
        </p:spPr>
        <p:txBody>
          <a:bodyPr/>
          <a:lstStyle/>
          <a:p>
            <a:endParaRPr lang="en-NO"/>
          </a:p>
        </p:txBody>
      </p:sp>
      <p:sp>
        <p:nvSpPr>
          <p:cNvPr id="38" name="Shape 36"/>
          <p:cNvSpPr/>
          <p:nvPr/>
        </p:nvSpPr>
        <p:spPr>
          <a:xfrm>
            <a:off x="9052560" y="3063240"/>
            <a:ext cx="2651760" cy="9601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39" name="Text 37"/>
          <p:cNvSpPr/>
          <p:nvPr/>
        </p:nvSpPr>
        <p:spPr>
          <a:xfrm>
            <a:off x="9052560" y="3108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Carbon-aware re-ranker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052560" y="34930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6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(1−λ)·engagement − λ·carbon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0378440" y="4023360"/>
            <a:ext cx="0" cy="502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  <a:tailEnd type="triangle"/>
          </a:ln>
        </p:spPr>
        <p:txBody>
          <a:bodyPr/>
          <a:lstStyle/>
          <a:p>
            <a:endParaRPr lang="en-NO"/>
          </a:p>
        </p:txBody>
      </p:sp>
      <p:sp>
        <p:nvSpPr>
          <p:cNvPr id="42" name="Shape 40"/>
          <p:cNvSpPr/>
          <p:nvPr/>
        </p:nvSpPr>
        <p:spPr>
          <a:xfrm>
            <a:off x="9235440" y="4526280"/>
            <a:ext cx="22860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43" name="Text 41"/>
          <p:cNvSpPr/>
          <p:nvPr/>
        </p:nvSpPr>
        <p:spPr>
          <a:xfrm>
            <a:off x="9235440" y="45811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308592" y="4937760"/>
            <a:ext cx="213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  ·  AvgPCF@10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8640" y="57607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upstream lanes: PCF estimation and candidate generation, meet at the re-ranker, which produces the Top-k output evaluated on engagement and carbon.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Carbon-Aware Re-ranking for E-commerce Recommendations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20095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11277295" cy="0"/>
          </a:xfrm>
          <a:prstGeom prst="line">
            <a:avLst/>
          </a:prstGeom>
          <a:noFill/>
          <a:ln w="6350">
            <a:solidFill>
              <a:srgbClr val="D8DBE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PCF Estimation Method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Transferring sparse LCA supervision to an unlabeled catalog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8DBE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294 DAM  ·  Spring 2026  ·  UC Berkeley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24028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embed every labeled and unlabeled product into a shared semantic space using all-MiniLM-L6-v2 on concatenated title and category text. For each query item, the k nearest labeled products in the Carbon Catalogue are retrieved and used to produce a PCF estimate.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1605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estimators are compared: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6217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average: mean PCF of k nearest labeled items.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LLM: Llama-3.1-8B asked for a PCF estimate given the product text.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retrieval-augmented LLM: same LLM prompted with retrieved labeled neighbours as exemplars.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49440" y="1874520"/>
            <a:ext cx="4709160" cy="4206240"/>
          </a:xfrm>
          <a:prstGeom prst="rect">
            <a:avLst/>
          </a:prstGeom>
          <a:solidFill>
            <a:srgbClr val="ECEEEC"/>
          </a:solidFill>
          <a:ln w="6350">
            <a:solidFill>
              <a:srgbClr val="D8DBE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4" name="Text 12"/>
          <p:cNvSpPr/>
          <p:nvPr/>
        </p:nvSpPr>
        <p:spPr>
          <a:xfrm>
            <a:off x="7132320" y="20116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Retrieval-augmented estimator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223760" y="2514600"/>
            <a:ext cx="20116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6" name="Text 14"/>
          <p:cNvSpPr/>
          <p:nvPr/>
        </p:nvSpPr>
        <p:spPr>
          <a:xfrm>
            <a:off x="7223760" y="2514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item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(title, category)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81160" y="2834640"/>
            <a:ext cx="5029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  <a:tailEnd type="triangle"/>
          </a:ln>
        </p:spPr>
        <p:txBody>
          <a:bodyPr/>
          <a:lstStyle/>
          <a:p>
            <a:endParaRPr lang="en-NO"/>
          </a:p>
        </p:txBody>
      </p:sp>
      <p:sp>
        <p:nvSpPr>
          <p:cNvPr id="18" name="Shape 16"/>
          <p:cNvSpPr/>
          <p:nvPr/>
        </p:nvSpPr>
        <p:spPr>
          <a:xfrm>
            <a:off x="9829800" y="2514600"/>
            <a:ext cx="16916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9" name="Text 17"/>
          <p:cNvSpPr/>
          <p:nvPr/>
        </p:nvSpPr>
        <p:spPr>
          <a:xfrm>
            <a:off x="9829800" y="25146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labeled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0" y="3200400"/>
            <a:ext cx="0" cy="5486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1" name="Shape 19"/>
          <p:cNvSpPr/>
          <p:nvPr/>
        </p:nvSpPr>
        <p:spPr>
          <a:xfrm>
            <a:off x="10698480" y="3200400"/>
            <a:ext cx="0" cy="5486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2" name="Shape 20"/>
          <p:cNvSpPr/>
          <p:nvPr/>
        </p:nvSpPr>
        <p:spPr>
          <a:xfrm>
            <a:off x="8229600" y="3749040"/>
            <a:ext cx="2468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3" name="Shape 21"/>
          <p:cNvSpPr/>
          <p:nvPr/>
        </p:nvSpPr>
        <p:spPr>
          <a:xfrm>
            <a:off x="9464040" y="3749040"/>
            <a:ext cx="0" cy="365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  <a:tailEnd type="triangle"/>
          </a:ln>
        </p:spPr>
        <p:txBody>
          <a:bodyPr/>
          <a:lstStyle/>
          <a:p>
            <a:endParaRPr lang="en-NO"/>
          </a:p>
        </p:txBody>
      </p:sp>
      <p:sp>
        <p:nvSpPr>
          <p:cNvPr id="24" name="Shape 22"/>
          <p:cNvSpPr/>
          <p:nvPr/>
        </p:nvSpPr>
        <p:spPr>
          <a:xfrm>
            <a:off x="8366760" y="4160520"/>
            <a:ext cx="2194560" cy="6858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5" name="Text 23"/>
          <p:cNvSpPr/>
          <p:nvPr/>
        </p:nvSpPr>
        <p:spPr>
          <a:xfrm>
            <a:off x="8366760" y="41605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LLM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464040" y="4846320"/>
            <a:ext cx="0" cy="3200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  <a:tailEnd type="triangle"/>
          </a:ln>
        </p:spPr>
        <p:txBody>
          <a:bodyPr/>
          <a:lstStyle/>
          <a:p>
            <a:endParaRPr lang="en-NO"/>
          </a:p>
        </p:txBody>
      </p:sp>
      <p:sp>
        <p:nvSpPr>
          <p:cNvPr id="27" name="Shape 25"/>
          <p:cNvSpPr/>
          <p:nvPr/>
        </p:nvSpPr>
        <p:spPr>
          <a:xfrm>
            <a:off x="8366760" y="5212080"/>
            <a:ext cx="21945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8" name="Text 26"/>
          <p:cNvSpPr/>
          <p:nvPr/>
        </p:nvSpPr>
        <p:spPr>
          <a:xfrm>
            <a:off x="8366760" y="5212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PCF estimate (kg CO₂e)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Carbon-Aware Re-ranking for E-commerce Recommendations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20095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11277295" cy="0"/>
          </a:xfrm>
          <a:prstGeom prst="line">
            <a:avLst/>
          </a:prstGeom>
          <a:noFill/>
          <a:ln w="6350">
            <a:solidFill>
              <a:srgbClr val="D8DBE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PCF Estimation Results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Consumer-scale hold-out intersection, n = 771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8DBE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294 DAM  ·  Spring 2026  ·  UC Berkeley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2537344"/>
              </p:ext>
            </p:extLst>
          </p:nvPr>
        </p:nvGraphicFramePr>
        <p:xfrm>
          <a:off x="548640" y="1828800"/>
          <a:ext cx="7680960" cy="175564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AE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AE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 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Neighbour average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3,002.0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959.4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 LLM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1,712.8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790.7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Few-shot LLM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1,708.6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695.1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3931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RMSE, MAE, and median absolute error are better; higher Spearman ρ is better. Bold values mark the best per column.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595360" y="1828800"/>
            <a:ext cx="3063240" cy="4251960"/>
          </a:xfrm>
          <a:prstGeom prst="rect">
            <a:avLst/>
          </a:prstGeom>
          <a:solidFill>
            <a:srgbClr val="ECEEEC"/>
          </a:solidFill>
          <a:ln w="6350">
            <a:solidFill>
              <a:srgbClr val="D8DBE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2" name="Text 9"/>
          <p:cNvSpPr/>
          <p:nvPr/>
        </p:nvSpPr>
        <p:spPr>
          <a:xfrm>
            <a:off x="873252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Interpretation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732520" y="2331720"/>
            <a:ext cx="2788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LLM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 the lowest absolute-error metrics on the consumer-scale subset.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 average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 the best rank correlation, indicating retrieval alone preserves local ordering.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the few-shot signal downstream because re-ranking depends on calibrated absolute PCF, not only rank.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866-item hold-out is dominated by heavy industrial outliers and is reported in the appendix.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Carbon-Aware Re-ranking for E-commerce Recommendations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20095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11277295" cy="0"/>
          </a:xfrm>
          <a:prstGeom prst="line">
            <a:avLst/>
          </a:prstGeom>
          <a:noFill/>
          <a:ln w="6350">
            <a:solidFill>
              <a:srgbClr val="D8DBE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Carbon-Aware Re-ranking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auditable trade-off parameter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8DBE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294 DAM  ·  Spring 2026  ·  UC Berkeley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73152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ᵤᵢ = (1 − λ) · </a:t>
            </a:r>
            <a:r>
              <a:rPr lang="en-US" sz="260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ᵤᵢ  −  λ · </a:t>
            </a:r>
            <a:r>
              <a:rPr lang="en-US" sz="260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</a:t>
            </a: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ᵢ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3520440" cy="1188720"/>
          </a:xfrm>
          <a:prstGeom prst="rect">
            <a:avLst/>
          </a:prstGeom>
          <a:solidFill>
            <a:srgbClr val="ECEEEC"/>
          </a:solidFill>
          <a:ln w="6350">
            <a:solidFill>
              <a:srgbClr val="D8DBE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2" name="Text 10"/>
          <p:cNvSpPr/>
          <p:nvPr/>
        </p:nvSpPr>
        <p:spPr>
          <a:xfrm>
            <a:off x="731520" y="3520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λ = 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8862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Engagement-only ranking. Recovers the underlying recommender's top-k.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97680" y="3429000"/>
            <a:ext cx="3520440" cy="1188720"/>
          </a:xfrm>
          <a:prstGeom prst="rect">
            <a:avLst/>
          </a:prstGeom>
          <a:solidFill>
            <a:srgbClr val="ECEEEC"/>
          </a:solidFill>
          <a:ln w="6350">
            <a:solidFill>
              <a:srgbClr val="D8DBE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5" name="Text 13"/>
          <p:cNvSpPr/>
          <p:nvPr/>
        </p:nvSpPr>
        <p:spPr>
          <a:xfrm>
            <a:off x="4480560" y="3520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λ = 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80560" y="38862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Carbon-only ranking. Ignores relevance; orders items by ascending PCF.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0" y="1920240"/>
            <a:ext cx="3429000" cy="2697480"/>
          </a:xfrm>
          <a:prstGeom prst="rect">
            <a:avLst/>
          </a:prstGeom>
          <a:solidFill>
            <a:srgbClr val="ECEEEC"/>
          </a:solidFill>
          <a:ln w="6350">
            <a:solidFill>
              <a:srgbClr val="D8DBE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8" name="Text 16"/>
          <p:cNvSpPr/>
          <p:nvPr/>
        </p:nvSpPr>
        <p:spPr>
          <a:xfrm>
            <a:off x="8366760" y="2057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Normalization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66760" y="242316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min–max over the Top-100 candidate pool.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min–max over the catalog; winsorized to reduce heavy-tail dominance.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50292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is deliberately simple and auditable. λ is explicit rather than entangled with model training, so the trade-off can be inspected or adjusted without retraining.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Carbon-Aware Re-ranking for E-commerce Recommendations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20095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11277295" cy="0"/>
          </a:xfrm>
          <a:prstGeom prst="line">
            <a:avLst/>
          </a:prstGeom>
          <a:noFill/>
          <a:ln w="6350">
            <a:solidFill>
              <a:srgbClr val="D8DBE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 Setup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8DBE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294 DAM  ·  Spring 2026  ·  UC Berkeley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3657600" cy="0"/>
          </a:xfrm>
          <a:prstGeom prst="line">
            <a:avLst/>
          </a:prstGeom>
          <a:noFill/>
          <a:ln w="6350">
            <a:solidFill>
              <a:srgbClr val="D8DBE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Reviews (public)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and Kitchen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and Outdoors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users per category; leave-one-out split.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8056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80560" y="2194560"/>
            <a:ext cx="3657600" cy="0"/>
          </a:xfrm>
          <a:prstGeom prst="line">
            <a:avLst/>
          </a:prstGeom>
          <a:noFill/>
          <a:ln w="6350">
            <a:solidFill>
              <a:srgbClr val="D8DBE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3" name="Text 11"/>
          <p:cNvSpPr/>
          <p:nvPr/>
        </p:nvSpPr>
        <p:spPr>
          <a:xfrm>
            <a:off x="4480560" y="228600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recommenders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NeuMF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LightGCN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Top-100 candidate pool from each model.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Re-ranker produces Top-10 output.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RecBole with matched hyperparameters across models.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1248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412480" y="2194560"/>
            <a:ext cx="3657600" cy="0"/>
          </a:xfrm>
          <a:prstGeom prst="line">
            <a:avLst/>
          </a:prstGeom>
          <a:noFill/>
          <a:ln w="6350">
            <a:solidFill>
              <a:srgbClr val="D8DBE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6" name="Text 14"/>
          <p:cNvSpPr/>
          <p:nvPr/>
        </p:nvSpPr>
        <p:spPr>
          <a:xfrm>
            <a:off x="8412480" y="228600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 (engagement, primary)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AvgPCF@10 (kg CO₂e)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reduction vs. λ = 0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values of λ spanning 0 to 1; each model×category curve traced independently.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55778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 is the primary engagement metric: leave-one-out evaluation makes Recall less informative about rank position, and NDCG captures both presence and placement of the held-out item.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Carbon-Aware Re-ranking for E-commerce Recommendations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20095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11277295" cy="0"/>
          </a:xfrm>
          <a:prstGeom prst="line">
            <a:avLst/>
          </a:prstGeom>
          <a:noFill/>
          <a:ln w="6350">
            <a:solidFill>
              <a:srgbClr val="D8DBE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Trade-off Pattern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λ-sensitivity: plateau, then cliff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8DBE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294 DAM  ·  Spring 2026  ·  UC Berkeley</a:t>
            </a:r>
            <a:endParaRPr lang="en-US" sz="900" dirty="0"/>
          </a:p>
        </p:txBody>
      </p:sp>
      <p:pic>
        <p:nvPicPr>
          <p:cNvPr id="9" name="Image 0" descr="/sessions/sweet-practical-maxwell/mnt/carbon-aware-recsys/docs/figures/lambda_sensitivity_electronics_BP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828800"/>
            <a:ext cx="5303520" cy="3474720"/>
          </a:xfrm>
          <a:prstGeom prst="rect">
            <a:avLst/>
          </a:prstGeom>
        </p:spPr>
      </p:pic>
      <p:pic>
        <p:nvPicPr>
          <p:cNvPr id="10" name="Image 1" descr="/sessions/sweet-practical-maxwell/mnt/carbon-aware-recsys/docs/figures/lambda_sensitivity_electronics_LightGC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26480" y="1828800"/>
            <a:ext cx="5303520" cy="34747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" y="53035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BPR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126480" y="53035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LightGCN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48640" y="57150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 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nearly flat across much of the sweep while </a:t>
            </a: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AvgPCF@10 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decreases monotonically. The sharp engagement drop appears only near the carbon-only regime, so substantial carbon savings are typically available before quality collapses.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Carbon-Aware Re-ranking for E-commerce Recommendations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20095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11277295" cy="0"/>
          </a:xfrm>
          <a:prstGeom prst="line">
            <a:avLst/>
          </a:prstGeom>
          <a:noFill/>
          <a:ln w="6350">
            <a:solidFill>
              <a:srgbClr val="D8DBE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NeuMF as the Important Exception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Model-dependent flexibility of the trade-off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8DBE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294 DAM  ·  Spring 2026  ·  UC Berkeley</a:t>
            </a:r>
            <a:endParaRPr lang="en-US" sz="900" dirty="0"/>
          </a:p>
        </p:txBody>
      </p:sp>
      <p:pic>
        <p:nvPicPr>
          <p:cNvPr id="9" name="Image 0" descr="lambda_sensitivity_electronics_NeuMF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2103120"/>
            <a:ext cx="3576320" cy="2731720"/>
          </a:xfrm>
          <a:prstGeom prst="rect">
            <a:avLst/>
          </a:prstGeom>
        </p:spPr>
      </p:pic>
      <p:pic>
        <p:nvPicPr>
          <p:cNvPr id="10" name="Image 1" descr="lambda_sensitivity_home_and_kitchen_NeuMF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07840" y="2103120"/>
            <a:ext cx="3576320" cy="2731720"/>
          </a:xfrm>
          <a:prstGeom prst="rect">
            <a:avLst/>
          </a:prstGeom>
        </p:spPr>
      </p:pic>
      <p:pic>
        <p:nvPicPr>
          <p:cNvPr id="19" name="Image 2" descr="lambda_sensitivity_sports_and_outdoors_NeuMF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67040" y="2103120"/>
            <a:ext cx="3576320" cy="27317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" y="4880840"/>
            <a:ext cx="357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NeuMF, Electronics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307840" y="4880840"/>
            <a:ext cx="357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NeuMF, Home &amp; Kitchen</a:t>
            </a:r>
            <a:endParaRPr lang="en-US" sz="1100" dirty="0"/>
          </a:p>
        </p:txBody>
      </p:sp>
      <p:sp>
        <p:nvSpPr>
          <p:cNvPr id="20" name="Text 11"/>
          <p:cNvSpPr/>
          <p:nvPr/>
        </p:nvSpPr>
        <p:spPr>
          <a:xfrm>
            <a:off x="8067040" y="4880840"/>
            <a:ext cx="357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NeuMF, Sports &amp; Outdoors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48640" y="57150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NeuMF has the highest absolute baseline NDCG, but its trade-off curve behaves differently across categories. Electronics and Sports &amp; Outdoors follow the expected pattern, accuracy degrades monotonically as the carbon weight grows, while in Home &amp; Kitchen, moderate re-ranking can </a:t>
            </a: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both NDCG and carbon footprint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We present this category-specific behaviour as an empirical exception rather than a general claim.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Carbon-Aware Re-ranking for E-commerce Recommendations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20095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11277295" cy="0"/>
          </a:xfrm>
          <a:prstGeom prst="line">
            <a:avLst/>
          </a:prstGeom>
          <a:noFill/>
          <a:ln w="6350">
            <a:solidFill>
              <a:srgbClr val="D8DBE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Cross-Model Comparison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frontiers for Electronics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8DBE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294 DAM  ·  Spring 2026  ·  UC Berkeley</a:t>
            </a:r>
            <a:endParaRPr lang="en-US" sz="900" dirty="0"/>
          </a:p>
        </p:txBody>
      </p:sp>
      <p:pic>
        <p:nvPicPr>
          <p:cNvPr id="9" name="Image 0" descr="/sessions/sweet-practical-maxwell/mnt/carbon-aware-recsys/docs/figures/multimodel_pareto_electronic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828800"/>
            <a:ext cx="6583680" cy="42062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0" y="18288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Findings (RQ3)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498080" y="2240280"/>
            <a:ext cx="42062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of backbone determines both baseline quality and carbon flexibility.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NeuMF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yields the highest absolute NDCG, but its curve dominates only at higher AvgPCF; reducing carbon costs engagement earlier.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BPR and LightGCN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expose more carbon headroom at low engagement cost but start from lower NDCG.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backbone dominates across the trade-off; the preferred choice depends on the operating point.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Carbon-Aware Re-ranking for E-commerce Recommendations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20095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11277295" cy="0"/>
          </a:xfrm>
          <a:prstGeom prst="line">
            <a:avLst/>
          </a:prstGeom>
          <a:noFill/>
          <a:ln w="6350">
            <a:solidFill>
              <a:srgbClr val="D8DBE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Category-Level Variation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carbon reduction at ≤ 5% NDCG drop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8DBE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294 DAM  ·  Spring 2026  ·  UC Berkeley</a:t>
            </a:r>
            <a:endParaRPr lang="en-US" sz="900" dirty="0"/>
          </a:p>
        </p:txBody>
      </p:sp>
      <p:pic>
        <p:nvPicPr>
          <p:cNvPr id="9" name="Image 0" descr="/sessions/sweet-practical-maxwell/mnt/carbon-aware-recsys/docs/figures/carbon_reduction_heatma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828800"/>
            <a:ext cx="6949440" cy="42062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863840" y="1828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 effects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863840" y="2240280"/>
            <a:ext cx="384048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Kitchen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admits 81–84% carbon reduction across all three models at ≤5% NDCG cost.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shows the strongest model dependence: 86% for BPR versus 7.6% for NeuMF.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&amp; Outdoors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lies in between, with more moderate but still substantial headroom.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Achievable savings depend jointly on model behavior and category-specific PCF structure.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Carbon-Aware Re-ranking for E-commerce Recommendations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20095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11277295" cy="0"/>
          </a:xfrm>
          <a:prstGeom prst="line">
            <a:avLst/>
          </a:prstGeom>
          <a:noFill/>
          <a:ln w="6350">
            <a:solidFill>
              <a:srgbClr val="D8DBE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of Findings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8DBE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294 DAM  ·  Spring 2026  ·  UC Berkeley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54406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BE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34440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PCF estimation is feasible at catalog scale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514600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retrieval-augmented LLM estimation provides a usable downstream carbon signal from only 866 labeled products.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828800"/>
            <a:ext cx="54406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BE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3" name="Text 11"/>
          <p:cNvSpPr/>
          <p:nvPr/>
        </p:nvSpPr>
        <p:spPr>
          <a:xfrm>
            <a:off x="6355080" y="19659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858000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Favorable engagement–carbon trade-offs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0" y="2514600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BPR and LightGCN, large carbon reductions are available before NDCG degrades substantially.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54406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BE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7" name="Text 15"/>
          <p:cNvSpPr/>
          <p:nvPr/>
        </p:nvSpPr>
        <p:spPr>
          <a:xfrm>
            <a:off x="731520" y="39776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234440" y="4023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Trade-off depends on the model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4526280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NeuMF admits much less low-cost carbon headroom than BPR or LightGCN, especially in Electronics.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840480"/>
            <a:ext cx="54406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BE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1" name="Text 19"/>
          <p:cNvSpPr/>
          <p:nvPr/>
        </p:nvSpPr>
        <p:spPr>
          <a:xfrm>
            <a:off x="6355080" y="39776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858000" y="4023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Trade-off depends on the category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58000" y="4526280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Kitchen is the most carbon-flexible category overall; Electronics is the most model-sensitive.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8521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Post-hoc carbon-aware re-ranking is a transparent mechanism for introducing sustainability objectives into an existing recommendation pipeline, with the caveat that the achievable trade-off is governed by both the backbone and the category.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Carbon-Aware Re-ranking for E-commerce Recommendations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20095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11277295" cy="0"/>
          </a:xfrm>
          <a:prstGeom prst="line">
            <a:avLst/>
          </a:prstGeom>
          <a:noFill/>
          <a:ln w="6350">
            <a:solidFill>
              <a:srgbClr val="D8DBE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and Future Work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8DBE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294 DAM  ·  Spring 2026  ·  UC Berkeley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5349240" cy="0"/>
          </a:xfrm>
          <a:prstGeom prst="line">
            <a:avLst/>
          </a:prstGeom>
          <a:noFill/>
          <a:ln w="6350">
            <a:solidFill>
              <a:srgbClr val="D8DBE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5486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Tx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data introduces selection bias and provides no explicit negatives.</a:t>
            </a:r>
          </a:p>
          <a:p>
            <a:pPr marL="342900" indent="-342900">
              <a:spcAft>
                <a:spcPts val="600"/>
              </a:spcAft>
              <a:buSzPct val="100000"/>
              <a:buFontTx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PCF values are estimated, not directly measured; errors propagate into the re-ranker.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evaluation cannot capture real user response to a carbon-aware Top-k.</a:t>
            </a:r>
          </a:p>
        </p:txBody>
      </p:sp>
      <p:sp>
        <p:nvSpPr>
          <p:cNvPr id="11" name="Text 9"/>
          <p:cNvSpPr/>
          <p:nvPr/>
        </p:nvSpPr>
        <p:spPr>
          <a:xfrm>
            <a:off x="6400800" y="1828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0" y="2240280"/>
            <a:ext cx="5257800" cy="0"/>
          </a:xfrm>
          <a:prstGeom prst="line">
            <a:avLst/>
          </a:prstGeom>
          <a:noFill/>
          <a:ln w="6350">
            <a:solidFill>
              <a:srgbClr val="D8DBE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3" name="Text 11"/>
          <p:cNvSpPr/>
          <p:nvPr/>
        </p:nvSpPr>
        <p:spPr>
          <a:xfrm>
            <a:off x="6400800" y="2377440"/>
            <a:ext cx="5303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behavioural datasets with explicit clicks, purchases, and timestamps.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PCF estimation using multimodal signals (images, structured attributes) and uncertainty estimates.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multi-objective training that jointly optimizes engagement and carbon during model fitting.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experiments to measure the causal effect of carbon-aware re-ranking on user </a:t>
            </a:r>
            <a:r>
              <a:rPr lang="en-US" sz="13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cs typeface="Calibri" pitchFamily="34" charset="-120"/>
              </a:rPr>
              <a:t>Effects of feedback loop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911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</a:t>
            </a:r>
            <a:endParaRPr lang="en-US" sz="6400" dirty="0"/>
          </a:p>
        </p:txBody>
      </p:sp>
      <p:sp>
        <p:nvSpPr>
          <p:cNvPr id="3" name="Shape 1"/>
          <p:cNvSpPr/>
          <p:nvPr/>
        </p:nvSpPr>
        <p:spPr>
          <a:xfrm>
            <a:off x="640080" y="3886200"/>
            <a:ext cx="2286000" cy="0"/>
          </a:xfrm>
          <a:prstGeom prst="line">
            <a:avLst/>
          </a:prstGeom>
          <a:noFill/>
          <a:ln w="12700">
            <a:solidFill>
              <a:srgbClr val="6BAA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40690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BE5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Trading Engagement for Sustainability: Carbon-Aware Re-ranking for E-commerce Recommendations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53035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 Vestrum   ·   Jørgen Bergh   ·   Noah Lund Syrdal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562356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DB5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github.com/andersvestrum/carbon-aware-recsys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Carbon-Aware Re-ranking for E-commerce Recommendations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20095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11277295" cy="0"/>
          </a:xfrm>
          <a:prstGeom prst="line">
            <a:avLst/>
          </a:prstGeom>
          <a:noFill/>
          <a:ln w="6350">
            <a:solidFill>
              <a:srgbClr val="D8DBE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- Full Pareto Frontiers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Engagement–carbon trade-off curves for BPR, NeuMF, and LightGCN across all three categories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8DBE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294 DAM  ·  Spring 2026  ·  UC Berkeley</a:t>
            </a:r>
            <a:endParaRPr lang="en-US" sz="900" dirty="0"/>
          </a:p>
        </p:txBody>
      </p:sp>
      <p:pic>
        <p:nvPicPr>
          <p:cNvPr id="9" name="Image 0" descr="multimodel_pareto_electronic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2103120"/>
            <a:ext cx="3576320" cy="2731720"/>
          </a:xfrm>
          <a:prstGeom prst="rect">
            <a:avLst/>
          </a:prstGeom>
        </p:spPr>
      </p:pic>
      <p:pic>
        <p:nvPicPr>
          <p:cNvPr id="10" name="Image 1" descr="multimodel_pareto_home_and_kitche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07840" y="2103120"/>
            <a:ext cx="3576320" cy="2731720"/>
          </a:xfrm>
          <a:prstGeom prst="rect">
            <a:avLst/>
          </a:prstGeom>
        </p:spPr>
      </p:pic>
      <p:pic>
        <p:nvPicPr>
          <p:cNvPr id="11" name="Image 2" descr="multimodel_pareto_sports_and_outdoors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67040" y="2103120"/>
            <a:ext cx="3576320" cy="27317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8640" y="4880840"/>
            <a:ext cx="357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Electronics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307840" y="4880840"/>
            <a:ext cx="357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Home &amp; Kitchen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067040" y="4880840"/>
            <a:ext cx="357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Sports &amp; Outdoors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548640" y="57150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panel overlays the three candidate generators on a single engagement (NDCG@10) versus carbon (AvgPCF@10) plot. Together the panels cover all nine backbone × category combinations: no single backbone dominates across operating points, and the available trade-off depends jointly on the model and the category.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Carbon-Aware Re-ranking for E-commerce Recommendations</a:t>
            </a:r>
          </a:p>
        </p:txBody>
      </p:sp>
      <p:sp>
        <p:nvSpPr>
          <p:cNvPr id="3" name="__page_counter__"/>
          <p:cNvSpPr txBox="1"/>
          <p:nvPr/>
        </p:nvSpPr>
        <p:spPr>
          <a:xfrm>
            <a:off x="10820095" y="2286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18 / 30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48640"/>
            <a:ext cx="11277600" cy="0"/>
          </a:xfrm>
          <a:prstGeom prst="line">
            <a:avLst/>
          </a:prstGeom>
          <a:ln w="6350">
            <a:solidFill>
              <a:srgbClr val="D8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36116"/>
            <a:ext cx="1127760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 dirty="0">
                <a:solidFill>
                  <a:srgbClr val="111827"/>
                </a:solidFill>
                <a:latin typeface="Georgia"/>
              </a:rPr>
              <a:t>Appendix </a:t>
            </a:r>
            <a:r>
              <a:rPr lang="nb-NO" sz="2800" b="1" i="0" dirty="0">
                <a:solidFill>
                  <a:srgbClr val="111827"/>
                </a:solidFill>
                <a:latin typeface="Georgia"/>
              </a:rPr>
              <a:t>-</a:t>
            </a:r>
            <a:r>
              <a:rPr sz="2800" b="1" i="0" dirty="0">
                <a:solidFill>
                  <a:srgbClr val="111827"/>
                </a:solidFill>
                <a:latin typeface="Georgia"/>
              </a:rPr>
              <a:t> PCF Consumer-Scale Evaluation Panel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77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1">
                <a:solidFill>
                  <a:srgbClr val="4B5563"/>
                </a:solidFill>
                <a:latin typeface="Calibri"/>
              </a:rPr>
              <a:t>Per-metric comparison on the consumer-scale hold-out intersection (n = 771)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92240"/>
            <a:ext cx="11277600" cy="0"/>
          </a:xfrm>
          <a:prstGeom prst="line">
            <a:avLst/>
          </a:prstGeom>
          <a:ln w="6350">
            <a:solidFill>
              <a:srgbClr val="D8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583010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dirty="0">
                <a:solidFill>
                  <a:srgbClr val="6B7280"/>
                </a:solidFill>
                <a:latin typeface="Calibri"/>
              </a:rPr>
              <a:t>CS 294 </a:t>
            </a:r>
            <a:r>
              <a:rPr lang="nb-NO" sz="900" b="0" i="0" dirty="0">
                <a:solidFill>
                  <a:srgbClr val="6B7280"/>
                </a:solidFill>
                <a:latin typeface="Calibri"/>
              </a:rPr>
              <a:t>DAM</a:t>
            </a:r>
            <a:r>
              <a:rPr sz="900" b="0" i="0" dirty="0">
                <a:solidFill>
                  <a:srgbClr val="6B7280"/>
                </a:solidFill>
                <a:latin typeface="Calibri"/>
              </a:rPr>
              <a:t>  ·  Spring 2026  ·  UC Berkeley</a:t>
            </a:r>
          </a:p>
        </p:txBody>
      </p:sp>
      <p:pic>
        <p:nvPicPr>
          <p:cNvPr id="9" name="Picture 8" descr="pcf_subset_accuracy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8216" y="1777960"/>
            <a:ext cx="4695568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024800"/>
            <a:ext cx="1127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Panels: full hold-out (866 items, teal) versus consumer-scale subset (≤ 10 kg, orange) for each estimator.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Carbon-Aware Re-ranking for E-commerce Recommendations</a:t>
            </a:r>
          </a:p>
        </p:txBody>
      </p:sp>
      <p:sp>
        <p:nvSpPr>
          <p:cNvPr id="3" name="__page_counter__"/>
          <p:cNvSpPr txBox="1"/>
          <p:nvPr/>
        </p:nvSpPr>
        <p:spPr>
          <a:xfrm>
            <a:off x="10820095" y="2286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20 / 30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48640"/>
            <a:ext cx="11277600" cy="0"/>
          </a:xfrm>
          <a:prstGeom prst="line">
            <a:avLst/>
          </a:prstGeom>
          <a:ln w="6350">
            <a:solidFill>
              <a:srgbClr val="D8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36116"/>
            <a:ext cx="1127760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 dirty="0">
                <a:solidFill>
                  <a:srgbClr val="111827"/>
                </a:solidFill>
                <a:latin typeface="Georgia"/>
              </a:rPr>
              <a:t>Appendix </a:t>
            </a:r>
            <a:r>
              <a:rPr lang="nb-NO" sz="2800" b="1" i="0" dirty="0">
                <a:solidFill>
                  <a:srgbClr val="111827"/>
                </a:solidFill>
                <a:latin typeface="Georgia"/>
              </a:rPr>
              <a:t>-</a:t>
            </a:r>
            <a:r>
              <a:rPr sz="2800" b="1" i="0" dirty="0">
                <a:solidFill>
                  <a:srgbClr val="111827"/>
                </a:solidFill>
                <a:latin typeface="Georgia"/>
              </a:rPr>
              <a:t> Carbon Catalogue PCF Distributions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85872"/>
            <a:ext cx="112776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nb-NO" sz="1300" b="0" i="1" dirty="0">
                <a:solidFill>
                  <a:srgbClr val="4B5563"/>
                </a:solidFill>
                <a:latin typeface="Calibri"/>
              </a:rPr>
              <a:t>C</a:t>
            </a:r>
            <a:r>
              <a:rPr sz="1300" b="0" i="1" dirty="0" err="1">
                <a:solidFill>
                  <a:srgbClr val="4B5563"/>
                </a:solidFill>
                <a:latin typeface="Calibri"/>
              </a:rPr>
              <a:t>ategory</a:t>
            </a:r>
            <a:r>
              <a:rPr sz="1300" b="0" i="1" dirty="0">
                <a:solidFill>
                  <a:srgbClr val="4B5563"/>
                </a:solidFill>
                <a:latin typeface="Calibri"/>
              </a:rPr>
              <a:t>-level views of the 866-product labeled corpus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92240"/>
            <a:ext cx="11277600" cy="0"/>
          </a:xfrm>
          <a:prstGeom prst="line">
            <a:avLst/>
          </a:prstGeom>
          <a:ln w="6350">
            <a:solidFill>
              <a:srgbClr val="D8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583010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dirty="0">
                <a:solidFill>
                  <a:srgbClr val="6B7280"/>
                </a:solidFill>
                <a:latin typeface="Calibri"/>
              </a:rPr>
              <a:t>CS 294 </a:t>
            </a:r>
            <a:r>
              <a:rPr lang="nb-NO" sz="900" b="0" i="0" dirty="0">
                <a:solidFill>
                  <a:srgbClr val="6B7280"/>
                </a:solidFill>
                <a:latin typeface="Calibri"/>
              </a:rPr>
              <a:t>DAM</a:t>
            </a:r>
            <a:r>
              <a:rPr sz="900" b="0" i="0" dirty="0">
                <a:solidFill>
                  <a:srgbClr val="6B7280"/>
                </a:solidFill>
                <a:latin typeface="Calibri"/>
              </a:rPr>
              <a:t>  ·  Spring 2026  ·  UC Berkeley</a:t>
            </a:r>
          </a:p>
        </p:txBody>
      </p:sp>
      <p:pic>
        <p:nvPicPr>
          <p:cNvPr id="11" name="Picture 10" descr="pcf_boxplot_by_category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1785891"/>
            <a:ext cx="5486400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352800" y="6111826"/>
            <a:ext cx="54864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100" b="0" i="1" dirty="0">
                <a:solidFill>
                  <a:srgbClr val="6B7280"/>
                </a:solidFill>
                <a:latin typeface="Calibri"/>
              </a:rPr>
              <a:t>Diagram: PCF distribution by category (least-green)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Carbon-Aware Re-ranking for E-commerce Recommendations</a:t>
            </a:r>
          </a:p>
        </p:txBody>
      </p:sp>
      <p:sp>
        <p:nvSpPr>
          <p:cNvPr id="3" name="__page_counter__"/>
          <p:cNvSpPr txBox="1"/>
          <p:nvPr/>
        </p:nvSpPr>
        <p:spPr>
          <a:xfrm>
            <a:off x="10820095" y="2286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21 / 30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48640"/>
            <a:ext cx="11277600" cy="0"/>
          </a:xfrm>
          <a:prstGeom prst="line">
            <a:avLst/>
          </a:prstGeom>
          <a:ln w="6350">
            <a:solidFill>
              <a:srgbClr val="D8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36116"/>
            <a:ext cx="1127760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 dirty="0">
                <a:solidFill>
                  <a:srgbClr val="111827"/>
                </a:solidFill>
                <a:latin typeface="Georgia"/>
              </a:rPr>
              <a:t>Appendix </a:t>
            </a:r>
            <a:r>
              <a:rPr lang="nb-NO" sz="2800" b="1" i="0" dirty="0">
                <a:solidFill>
                  <a:srgbClr val="111827"/>
                </a:solidFill>
                <a:latin typeface="Georgia"/>
              </a:rPr>
              <a:t>-</a:t>
            </a:r>
            <a:r>
              <a:rPr sz="2800" b="1" i="0" dirty="0">
                <a:solidFill>
                  <a:srgbClr val="111827"/>
                </a:solidFill>
                <a:latin typeface="Georgia"/>
              </a:rPr>
              <a:t> </a:t>
            </a:r>
            <a:r>
              <a:rPr sz="2800" b="1" i="0" dirty="0" err="1">
                <a:solidFill>
                  <a:srgbClr val="111827"/>
                </a:solidFill>
                <a:latin typeface="Georgia"/>
              </a:rPr>
              <a:t>λ</a:t>
            </a:r>
            <a:r>
              <a:rPr sz="2800" b="1" i="0" dirty="0">
                <a:solidFill>
                  <a:srgbClr val="111827"/>
                </a:solidFill>
                <a:latin typeface="Georgia"/>
              </a:rPr>
              <a:t>-Sensitivity: BPR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77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1">
                <a:solidFill>
                  <a:srgbClr val="4B5563"/>
                </a:solidFill>
                <a:latin typeface="Calibri"/>
              </a:rPr>
              <a:t>NDCG@10 and AvgPCF@10 as functions of λ for the BPR backbone across all three categories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92240"/>
            <a:ext cx="11277600" cy="0"/>
          </a:xfrm>
          <a:prstGeom prst="line">
            <a:avLst/>
          </a:prstGeom>
          <a:ln w="6350">
            <a:solidFill>
              <a:srgbClr val="D8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583010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dirty="0">
                <a:solidFill>
                  <a:srgbClr val="6B7280"/>
                </a:solidFill>
                <a:latin typeface="Calibri"/>
              </a:rPr>
              <a:t>CS 294 </a:t>
            </a:r>
            <a:r>
              <a:rPr lang="nb-NO" sz="900" b="0" i="0" dirty="0">
                <a:solidFill>
                  <a:srgbClr val="6B7280"/>
                </a:solidFill>
                <a:latin typeface="Calibri"/>
              </a:rPr>
              <a:t>DAM</a:t>
            </a:r>
            <a:r>
              <a:rPr sz="900" b="0" i="0" dirty="0">
                <a:solidFill>
                  <a:srgbClr val="6B7280"/>
                </a:solidFill>
                <a:latin typeface="Calibri"/>
              </a:rPr>
              <a:t>  ·  Spring 2026  ·  UC Berkeley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1920000"/>
            <a:ext cx="3657600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5300" y="51804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(a) Electronics</a:t>
            </a:r>
          </a:p>
        </p:txBody>
      </p:sp>
      <p:pic>
        <p:nvPicPr>
          <p:cNvPr id="11" name="Picture 10" descr="lambda_sensitivity_home_and_kitchen_BP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1920000"/>
            <a:ext cx="3657600" cy="3200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67200" y="51804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(b) Home &amp; Kitchen</a:t>
            </a:r>
          </a:p>
        </p:txBody>
      </p:sp>
      <p:pic>
        <p:nvPicPr>
          <p:cNvPr id="13" name="Picture 12" descr="lambda_sensitivity_sports_and_outdoors_BP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9100" y="1920000"/>
            <a:ext cx="3657600" cy="3200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39100" y="51804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(c) Sports &amp; Outdoors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580400"/>
            <a:ext cx="112776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BPR exhibits the expected plateau-then-cliff structure in every category: NDCG@10 stays near the λ = 0 baseline over a wide range while AvgPCF@10 decreases monotonically, and the engagement cliff appears only close to the carbon-only regime.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Carbon-Aware Re-ranking for E-commerce Recommendations</a:t>
            </a:r>
          </a:p>
        </p:txBody>
      </p:sp>
      <p:sp>
        <p:nvSpPr>
          <p:cNvPr id="3" name="__page_counter__"/>
          <p:cNvSpPr txBox="1"/>
          <p:nvPr/>
        </p:nvSpPr>
        <p:spPr>
          <a:xfrm>
            <a:off x="10820095" y="2286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22 / 30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48640"/>
            <a:ext cx="11277600" cy="0"/>
          </a:xfrm>
          <a:prstGeom prst="line">
            <a:avLst/>
          </a:prstGeom>
          <a:ln w="6350">
            <a:solidFill>
              <a:srgbClr val="D8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36116"/>
            <a:ext cx="1127760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 dirty="0">
                <a:solidFill>
                  <a:srgbClr val="111827"/>
                </a:solidFill>
                <a:latin typeface="Georgia"/>
              </a:rPr>
              <a:t>Appendix </a:t>
            </a:r>
            <a:r>
              <a:rPr lang="nb-NO" sz="2800" b="1" i="0" dirty="0">
                <a:solidFill>
                  <a:srgbClr val="111827"/>
                </a:solidFill>
                <a:latin typeface="Georgia"/>
              </a:rPr>
              <a:t>-</a:t>
            </a:r>
            <a:r>
              <a:rPr sz="2800" b="1" i="0" dirty="0">
                <a:solidFill>
                  <a:srgbClr val="111827"/>
                </a:solidFill>
                <a:latin typeface="Georgia"/>
              </a:rPr>
              <a:t> </a:t>
            </a:r>
            <a:r>
              <a:rPr sz="2800" b="1" i="0" dirty="0" err="1">
                <a:solidFill>
                  <a:srgbClr val="111827"/>
                </a:solidFill>
                <a:latin typeface="Georgia"/>
              </a:rPr>
              <a:t>λ</a:t>
            </a:r>
            <a:r>
              <a:rPr sz="2800" b="1" i="0" dirty="0">
                <a:solidFill>
                  <a:srgbClr val="111827"/>
                </a:solidFill>
                <a:latin typeface="Georgia"/>
              </a:rPr>
              <a:t>-Sensitivity: </a:t>
            </a:r>
            <a:r>
              <a:rPr sz="2800" b="1" i="0" dirty="0" err="1">
                <a:solidFill>
                  <a:srgbClr val="111827"/>
                </a:solidFill>
                <a:latin typeface="Georgia"/>
              </a:rPr>
              <a:t>NeuMF</a:t>
            </a:r>
            <a:endParaRPr sz="2800" b="1" i="0" dirty="0">
              <a:solidFill>
                <a:srgbClr val="111827"/>
              </a:solidFill>
              <a:latin typeface="Georg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77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1">
                <a:solidFill>
                  <a:srgbClr val="4B5563"/>
                </a:solidFill>
                <a:latin typeface="Calibri"/>
              </a:rPr>
              <a:t>Model-specific trade-off curves for NeuMF across all three categories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92240"/>
            <a:ext cx="11277600" cy="0"/>
          </a:xfrm>
          <a:prstGeom prst="line">
            <a:avLst/>
          </a:prstGeom>
          <a:ln w="6350">
            <a:solidFill>
              <a:srgbClr val="D8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583010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dirty="0">
                <a:solidFill>
                  <a:srgbClr val="6B7280"/>
                </a:solidFill>
                <a:latin typeface="Calibri"/>
              </a:rPr>
              <a:t>CS 294 </a:t>
            </a:r>
            <a:r>
              <a:rPr lang="nb-NO" sz="900" b="0" i="0" dirty="0">
                <a:solidFill>
                  <a:srgbClr val="6B7280"/>
                </a:solidFill>
                <a:latin typeface="Calibri"/>
              </a:rPr>
              <a:t>DAM</a:t>
            </a:r>
            <a:r>
              <a:rPr sz="900" b="0" i="0" dirty="0">
                <a:solidFill>
                  <a:srgbClr val="6B7280"/>
                </a:solidFill>
                <a:latin typeface="Calibri"/>
              </a:rPr>
              <a:t>  ·  Spring 2026  ·  UC Berkeley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1920000"/>
            <a:ext cx="3657600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5300" y="51804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(a) Electronics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1920000"/>
            <a:ext cx="3657600" cy="3200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67200" y="51804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(b) Home &amp; Kitchen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9100" y="1920000"/>
            <a:ext cx="3657600" cy="3200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39100" y="51804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(c) Sports &amp; Outdoors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580400"/>
            <a:ext cx="112776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NeuMF has the highest absolute baseline NDCG but the least carbon headroom in Electronics. In Home &amp; Kitchen, moderate re-ranking improves both engagement and carbon — the only category–model combination where the trade-off is not strictly adversarial.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Carbon-Aware Re-ranking for E-commerce Recommendations</a:t>
            </a:r>
          </a:p>
        </p:txBody>
      </p:sp>
      <p:sp>
        <p:nvSpPr>
          <p:cNvPr id="3" name="__page_counter__"/>
          <p:cNvSpPr txBox="1"/>
          <p:nvPr/>
        </p:nvSpPr>
        <p:spPr>
          <a:xfrm>
            <a:off x="10820095" y="2286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23 / 30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48640"/>
            <a:ext cx="11277600" cy="0"/>
          </a:xfrm>
          <a:prstGeom prst="line">
            <a:avLst/>
          </a:prstGeom>
          <a:ln w="6350">
            <a:solidFill>
              <a:srgbClr val="D8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36116"/>
            <a:ext cx="1127760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 dirty="0">
                <a:solidFill>
                  <a:srgbClr val="111827"/>
                </a:solidFill>
                <a:latin typeface="Georgia"/>
              </a:rPr>
              <a:t>Appendix </a:t>
            </a:r>
            <a:r>
              <a:rPr lang="nb-NO" sz="2800" b="1" dirty="0">
                <a:solidFill>
                  <a:srgbClr val="111827"/>
                </a:solidFill>
                <a:latin typeface="Georgia"/>
              </a:rPr>
              <a:t>-</a:t>
            </a:r>
            <a:r>
              <a:rPr sz="2800" b="1" i="0" dirty="0">
                <a:solidFill>
                  <a:srgbClr val="111827"/>
                </a:solidFill>
                <a:latin typeface="Georgia"/>
              </a:rPr>
              <a:t> </a:t>
            </a:r>
            <a:r>
              <a:rPr sz="2800" b="1" i="0" dirty="0" err="1">
                <a:solidFill>
                  <a:srgbClr val="111827"/>
                </a:solidFill>
                <a:latin typeface="Georgia"/>
              </a:rPr>
              <a:t>λ</a:t>
            </a:r>
            <a:r>
              <a:rPr sz="2800" b="1" i="0" dirty="0">
                <a:solidFill>
                  <a:srgbClr val="111827"/>
                </a:solidFill>
                <a:latin typeface="Georgia"/>
              </a:rPr>
              <a:t>-Sensitivity: </a:t>
            </a:r>
            <a:r>
              <a:rPr sz="2800" b="1" i="0" dirty="0" err="1">
                <a:solidFill>
                  <a:srgbClr val="111827"/>
                </a:solidFill>
                <a:latin typeface="Georgia"/>
              </a:rPr>
              <a:t>LightGCN</a:t>
            </a:r>
            <a:endParaRPr sz="2800" b="1" i="0" dirty="0">
              <a:solidFill>
                <a:srgbClr val="111827"/>
              </a:solidFill>
              <a:latin typeface="Georg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77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1">
                <a:solidFill>
                  <a:srgbClr val="4B5563"/>
                </a:solidFill>
                <a:latin typeface="Calibri"/>
              </a:rPr>
              <a:t>NDCG@10 and AvgPCF@10 as functions of λ for the LightGCN backbone across all three categories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92240"/>
            <a:ext cx="11277600" cy="0"/>
          </a:xfrm>
          <a:prstGeom prst="line">
            <a:avLst/>
          </a:prstGeom>
          <a:ln w="6350">
            <a:solidFill>
              <a:srgbClr val="D8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583010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dirty="0">
                <a:solidFill>
                  <a:srgbClr val="6B7280"/>
                </a:solidFill>
                <a:latin typeface="Calibri"/>
              </a:rPr>
              <a:t>CS 294 </a:t>
            </a:r>
            <a:r>
              <a:rPr lang="nb-NO" sz="900" b="0" i="0" dirty="0">
                <a:solidFill>
                  <a:srgbClr val="6B7280"/>
                </a:solidFill>
                <a:latin typeface="Calibri"/>
              </a:rPr>
              <a:t>DAM</a:t>
            </a:r>
            <a:r>
              <a:rPr sz="900" b="0" i="0" dirty="0">
                <a:solidFill>
                  <a:srgbClr val="6B7280"/>
                </a:solidFill>
                <a:latin typeface="Calibri"/>
              </a:rPr>
              <a:t>  ·  Spring 2026  ·  UC Berkeley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1920000"/>
            <a:ext cx="3657600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5300" y="51804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(a) Electronics</a:t>
            </a:r>
          </a:p>
        </p:txBody>
      </p:sp>
      <p:pic>
        <p:nvPicPr>
          <p:cNvPr id="11" name="Picture 10" descr="lambda_sensitivity_home_and_kitchen_LightGC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1920000"/>
            <a:ext cx="3657600" cy="3200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67200" y="51804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(b) Home &amp; Kitchen</a:t>
            </a:r>
          </a:p>
        </p:txBody>
      </p:sp>
      <p:pic>
        <p:nvPicPr>
          <p:cNvPr id="13" name="Picture 12" descr="lambda_sensitivity_sports_and_outdoors_LightGC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9100" y="1920000"/>
            <a:ext cx="3657600" cy="3200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39100" y="51804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(c) Sports &amp; Outdoors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580400"/>
            <a:ext cx="112776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LightGCN exposes substantial carbon headroom before engagement degrades: in every category, carbon reductions above 60 % are available at essentially unchanged NDCG.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1268</TotalTime>
  <Words>3017</Words>
  <Application>Microsoft Macintosh PowerPoint</Application>
  <PresentationFormat>Widescreen</PresentationFormat>
  <Paragraphs>370</Paragraphs>
  <Slides>22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Trading Engagement for Sustainability</dc:title>
  <dc:subject>PptxGenJS Presentation</dc:subject>
  <dc:creator>A. Vestrum, J. Bergh, N. Lund Syrdal</dc:creator>
  <cp:lastModifiedBy>Anders Vestrum</cp:lastModifiedBy>
  <cp:revision>4</cp:revision>
  <dcterms:created xsi:type="dcterms:W3CDTF">2026-04-20T18:15:27Z</dcterms:created>
  <dcterms:modified xsi:type="dcterms:W3CDTF">2026-04-23T15:35:05Z</dcterms:modified>
</cp:coreProperties>
</file>