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A2E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1F3A2E"/>
                </a:solidFill>
                <a:latin typeface="Georgia"/>
              </a:rPr>
              <a:t>Carbon reduction at best Pareto operating point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BPR</c:v>
                </c:pt>
              </c:strCache>
            </c:strRef>
          </c:tx>
          <c:spPr>
            <a:solidFill>
              <a:srgbClr val="4B7F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Electronics</c:v>
                  </c:pt>
                  <c:pt idx="1">
                    <c:v>Home &amp; Kitchen</c:v>
                  </c:pt>
                  <c:pt idx="2">
                    <c:v>Sports &amp; Outdoors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41.9</c:v>
                </c:pt>
                <c:pt idx="1">
                  <c:v>34.7</c:v>
                </c:pt>
                <c:pt idx="2">
                  <c:v>64.2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LightGCN</c:v>
                </c:pt>
              </c:strCache>
            </c:strRef>
          </c:tx>
          <c:spPr>
            <a:solidFill>
              <a:srgbClr val="C65D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Electronics</c:v>
                  </c:pt>
                  <c:pt idx="1">
                    <c:v>Home &amp; Kitchen</c:v>
                  </c:pt>
                  <c:pt idx="2">
                    <c:v>Sports &amp; Outdoors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29.5</c:v>
                </c:pt>
                <c:pt idx="1">
                  <c:v>29.8</c:v>
                </c:pt>
                <c:pt idx="2">
                  <c:v>54.8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NeuMF</c:v>
                </c:pt>
              </c:strCache>
            </c:strRef>
          </c:tx>
          <c:spPr>
            <a:solidFill>
              <a:srgbClr val="1F3A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Electronics</c:v>
                  </c:pt>
                  <c:pt idx="1">
                    <c:v>Home &amp; Kitchen</c:v>
                  </c:pt>
                  <c:pt idx="2">
                    <c:v>Sports &amp; Outdoors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11.2</c:v>
                </c:pt>
                <c:pt idx="1">
                  <c:v>10.3</c:v>
                </c:pt>
                <c:pt idx="2">
                  <c:v>31.3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6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A1A1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852160"/>
            <a:ext cx="12161520" cy="91440"/>
          </a:xfrm>
          <a:prstGeom prst="rect">
            <a:avLst/>
          </a:prstGeom>
          <a:solidFill>
            <a:srgbClr val="7FA97C"/>
          </a:solidFill>
          <a:ln w="12700">
            <a:solidFill>
              <a:srgbClr val="7FA9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7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CS294  |  UC BERKELEY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Trading Engagement</a:t>
            </a:r>
            <a:endParaRPr lang="en-US" sz="5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Sustainability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FA9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Carbon-Aware Re-ranking for E-commerce Recommendations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4526280"/>
            <a:ext cx="2011680" cy="0"/>
          </a:xfrm>
          <a:prstGeom prst="line">
            <a:avLst/>
          </a:prstGeom>
          <a:noFill/>
          <a:ln w="19050">
            <a:solidFill>
              <a:srgbClr val="7FA9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7091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6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reduce the carbon footprint of recommendations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6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destroying recommendation quality?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 Vestrum  ·  Jørgen Bergh  ·  Noah Lund Syrdal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California, Berkeley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Recommenders Should Care About Carbon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4846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91440" cy="1188720"/>
          </a:xfrm>
          <a:prstGeom prst="rect">
            <a:avLst/>
          </a:prstGeom>
          <a:solidFill>
            <a:srgbClr val="7FA97C"/>
          </a:solidFill>
          <a:ln w="12700">
            <a:solidFill>
              <a:srgbClr val="7FA9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830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$27T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697480" y="178308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e-commerce sales, 2022 (UNCTAD)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108960"/>
            <a:ext cx="4846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3108960"/>
            <a:ext cx="91440" cy="1188720"/>
          </a:xfrm>
          <a:prstGeom prst="rect">
            <a:avLst/>
          </a:prstGeom>
          <a:solidFill>
            <a:srgbClr val="7FA97C"/>
          </a:solidFill>
          <a:ln w="12700">
            <a:solidFill>
              <a:srgbClr val="7FA9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004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~0%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697480" y="32004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items with a Product Carbon Footprint label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4526280"/>
            <a:ext cx="4846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4526280"/>
            <a:ext cx="91440" cy="1188720"/>
          </a:xfrm>
          <a:prstGeom prst="rect">
            <a:avLst/>
          </a:prstGeom>
          <a:solidFill>
            <a:srgbClr val="7FA97C"/>
          </a:solidFill>
          <a:ln w="12700">
            <a:solidFill>
              <a:srgbClr val="7FA9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617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2024/825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97480" y="46177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directive mandating environmental transparency at point of purchase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0" y="1691640"/>
            <a:ext cx="5897880" cy="4023360"/>
          </a:xfrm>
          <a:prstGeom prst="rect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35040" y="233172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Recommender systems optimize engagement,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they also shape what people actually buy.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Carbon Footprint (PCF) is a useful sustainability signal — </a:t>
            </a:r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it is missing for almost all catalog items.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035040" y="48006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7FA9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 is not just ranking greener items.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7FA9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first estimating which items are greener at all.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9525">
            <a:solidFill>
              <a:srgbClr val="D8D3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Engagement for Sustainability  |  CS294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Questions &amp; Main Idea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59359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3593592" cy="91440"/>
          </a:xfrm>
          <a:prstGeom prst="rect">
            <a:avLst/>
          </a:prstGeom>
          <a:solidFill>
            <a:srgbClr val="7FA97C"/>
          </a:solidFill>
          <a:ln w="12700">
            <a:solidFill>
              <a:srgbClr val="7FA9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11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carbon-aware re-ranking affect recommendation quality?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79392" y="1691640"/>
            <a:ext cx="359359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79392" y="1691640"/>
            <a:ext cx="3593592" cy="91440"/>
          </a:xfrm>
          <a:prstGeom prst="rect">
            <a:avLst/>
          </a:prstGeom>
          <a:solidFill>
            <a:srgbClr val="7FA97C"/>
          </a:solidFill>
          <a:ln w="12700">
            <a:solidFill>
              <a:srgbClr val="7FA9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2011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53712" y="26060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carbon reduction can we get with acceptable engagement loss?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55864" y="1691640"/>
            <a:ext cx="359359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55864" y="1691640"/>
            <a:ext cx="3593592" cy="91440"/>
          </a:xfrm>
          <a:prstGeom prst="rect">
            <a:avLst/>
          </a:prstGeom>
          <a:solidFill>
            <a:srgbClr val="7FA97C"/>
          </a:solidFill>
          <a:ln w="12700">
            <a:solidFill>
              <a:srgbClr val="7FA9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0184" y="2011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330184" y="26060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different recommendation models expose different trade-offs?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4480560"/>
            <a:ext cx="11155680" cy="1417320"/>
          </a:xfrm>
          <a:prstGeom prst="rect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617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983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Estimate product carbon footprints, then </a:t>
            </a:r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re-rank recommendation candidates</a:t>
            </a:r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using a </a:t>
            </a:r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tunable trade-off</a:t>
            </a:r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between engagement and carbon.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9525">
            <a:solidFill>
              <a:srgbClr val="D8D3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Engagement for Sustainability  |  CS294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Pipeline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057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965960"/>
            <a:ext cx="2057400" cy="457200"/>
          </a:xfrm>
          <a:prstGeom prst="rect">
            <a:avLst/>
          </a:prstGeom>
          <a:solidFill>
            <a:srgbClr val="7FA97C"/>
          </a:solidFill>
          <a:ln w="12700">
            <a:solidFill>
              <a:srgbClr val="7FA9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4963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953512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Catalogue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Amazon metadata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5400000">
            <a:off x="2596896" y="2788920"/>
            <a:ext cx="164592" cy="182880"/>
          </a:xfrm>
          <a:prstGeom prst="rtTriangle">
            <a:avLst/>
          </a:prstGeom>
          <a:solidFill>
            <a:srgbClr val="7FA97C"/>
          </a:solidFill>
          <a:ln w="12700">
            <a:solidFill>
              <a:srgbClr val="7FA9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70632" y="1965960"/>
            <a:ext cx="2057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70632" y="1965960"/>
            <a:ext cx="2057400" cy="457200"/>
          </a:xfrm>
          <a:prstGeom prst="rect">
            <a:avLst/>
          </a:prstGeom>
          <a:solidFill>
            <a:srgbClr val="4B7F52"/>
          </a:solidFill>
          <a:ln w="12700">
            <a:solidFill>
              <a:srgbClr val="4B7F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07792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907792" y="24963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PCF Estimation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907792" y="2953512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average, zero-shot,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LLM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rot="5400000">
            <a:off x="4864608" y="2788920"/>
            <a:ext cx="164592" cy="182880"/>
          </a:xfrm>
          <a:prstGeom prst="rtTriangle">
            <a:avLst/>
          </a:prstGeom>
          <a:solidFill>
            <a:srgbClr val="7FA97C"/>
          </a:solidFill>
          <a:ln w="12700">
            <a:solidFill>
              <a:srgbClr val="7FA9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38344" y="1965960"/>
            <a:ext cx="2057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38344" y="1965960"/>
            <a:ext cx="2057400" cy="457200"/>
          </a:xfrm>
          <a:prstGeom prst="rect">
            <a:avLst/>
          </a:prstGeom>
          <a:solidFill>
            <a:srgbClr val="2F5D42"/>
          </a:solidFill>
          <a:ln w="12700">
            <a:solidFill>
              <a:srgbClr val="2F5D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75504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175504" y="24963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Candidate Gen.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75504" y="2953512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RecBole: BPR,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NeuMF, LightGCN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rot="5400000">
            <a:off x="7132320" y="2788920"/>
            <a:ext cx="164592" cy="182880"/>
          </a:xfrm>
          <a:prstGeom prst="rtTriangle">
            <a:avLst/>
          </a:prstGeom>
          <a:solidFill>
            <a:srgbClr val="7FA97C"/>
          </a:solidFill>
          <a:ln w="12700">
            <a:solidFill>
              <a:srgbClr val="7FA9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06056" y="1965960"/>
            <a:ext cx="2057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06056" y="1965960"/>
            <a:ext cx="2057400" cy="457200"/>
          </a:xfrm>
          <a:prstGeom prst="rect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43216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443216" y="24963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Re-ranking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43216" y="2953512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× Carbon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(tunable λ)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 rot="5400000">
            <a:off x="9400032" y="2788920"/>
            <a:ext cx="164592" cy="182880"/>
          </a:xfrm>
          <a:prstGeom prst="rtTriangle">
            <a:avLst/>
          </a:prstGeom>
          <a:solidFill>
            <a:srgbClr val="7FA97C"/>
          </a:solidFill>
          <a:ln w="12700">
            <a:solidFill>
              <a:srgbClr val="7FA9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73768" y="1965960"/>
            <a:ext cx="2057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73768" y="1965960"/>
            <a:ext cx="2057400" cy="457200"/>
          </a:xfrm>
          <a:prstGeom prst="rect">
            <a:avLst/>
          </a:prstGeom>
          <a:solidFill>
            <a:srgbClr val="C65D2F"/>
          </a:solidFill>
          <a:ln w="12700">
            <a:solidFill>
              <a:srgbClr val="C65D2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10928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710928" y="24963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710928" y="2953512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NDCG@10, Recall@10,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AvgPCF@10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420624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4206240"/>
            <a:ext cx="91440" cy="1554480"/>
          </a:xfrm>
          <a:prstGeom prst="rect">
            <a:avLst/>
          </a:prstGeom>
          <a:solidFill>
            <a:srgbClr val="7FA97C"/>
          </a:solidFill>
          <a:ln w="12700">
            <a:solidFill>
              <a:srgbClr val="7FA97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343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challenge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1520" y="46634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items lack PCF labels, so we first transfer carbon supervision from a small labelled Carbon Catalogue to the large unlabeled catalog.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172200" y="420624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72200" y="4206240"/>
            <a:ext cx="91440" cy="1554480"/>
          </a:xfrm>
          <a:prstGeom prst="rect">
            <a:avLst/>
          </a:prstGeom>
          <a:solidFill>
            <a:srgbClr val="C65D2F"/>
          </a:solidFill>
          <a:ln w="12700">
            <a:solidFill>
              <a:srgbClr val="C65D2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4343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5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knob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00800" y="46634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explicit parameter λ interpolates between pure engagement (λ = 0) and pure carbon minimization (λ = 1).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9525">
            <a:solidFill>
              <a:srgbClr val="D8D3C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Engagement for Sustainability  |  CS294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METHOD, PART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1: Estimating Product Carbon Footprint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1206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91440" cy="4480560"/>
          </a:xfrm>
          <a:prstGeom prst="rect">
            <a:avLst/>
          </a:prstGeom>
          <a:solidFill>
            <a:srgbClr val="7FA97C"/>
          </a:solidFill>
          <a:ln w="12700">
            <a:solidFill>
              <a:srgbClr val="7FA9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Carbon Catalogue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5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866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life-cycle-assessed products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3108960"/>
            <a:ext cx="4572000" cy="0"/>
          </a:xfrm>
          <a:prstGeom prst="line">
            <a:avLst/>
          </a:prstGeom>
          <a:noFill/>
          <a:ln w="9525">
            <a:solidFill>
              <a:srgbClr val="D8D3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520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all-MiniLM-L6-v2 embeddings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4023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items are embedded from title + description; labelled neighbours are retrieved by semantic similarity.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53949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Result: full-coverage PCF signal on the catalog.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0" y="17373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estimation strategies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943600" y="2331720"/>
            <a:ext cx="502920" cy="502920"/>
          </a:xfrm>
          <a:prstGeom prst="ellipse">
            <a:avLst/>
          </a:prstGeom>
          <a:solidFill>
            <a:srgbClr val="7FA97C"/>
          </a:solidFill>
          <a:ln w="12700">
            <a:solidFill>
              <a:srgbClr val="7FA9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83680" y="22860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Nearest-neighbour average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272491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PCF of top-k retrieved labelled products.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0" y="3566160"/>
            <a:ext cx="502920" cy="502920"/>
          </a:xfrm>
          <a:prstGeom prst="ellipse">
            <a:avLst/>
          </a:prstGeom>
          <a:solidFill>
            <a:srgbClr val="7FA97C"/>
          </a:solidFill>
          <a:ln w="12700">
            <a:solidFill>
              <a:srgbClr val="7FA9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83680" y="35204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Zero-shot LLM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83680" y="395935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predicts PCF from product text alone.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0" y="4800600"/>
            <a:ext cx="502920" cy="502920"/>
          </a:xfrm>
          <a:prstGeom prst="ellipse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83680" y="47548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Few-shot retrieval-augmented LLM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83680" y="519379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conditioned on retrieved labelled exemplars.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9525">
            <a:solidFill>
              <a:srgbClr val="D8D3C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Engagement for Sustainability  |  CS294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METHOD, PART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2: Carbon-Aware Re-ranking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generators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173736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1031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BPR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377440" y="2103120"/>
            <a:ext cx="173736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21031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NeuMF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251960" y="2103120"/>
            <a:ext cx="173736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1960" y="21031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LightGCN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2920" y="3200400"/>
            <a:ext cx="5577840" cy="2057400"/>
          </a:xfrm>
          <a:prstGeom prst="rect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337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RE-RANKING SCORE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37033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indent="0" marL="0">
              <a:buNone/>
            </a:pPr>
            <a:r>
              <a:rPr lang="en-US" sz="1900" b="1" i="1" baseline="-4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u,i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  (1 − λ) · engagement</a:t>
            </a:r>
            <a:pPr indent="0" marL="0">
              <a:buNone/>
            </a:pPr>
            <a:r>
              <a:rPr lang="en-US" sz="1900" b="1" baseline="-4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−   λ · carbon</a:t>
            </a:r>
            <a:pPr indent="0" marL="0">
              <a:buNone/>
            </a:pPr>
            <a:r>
              <a:rPr lang="en-US" sz="1900" b="1" baseline="-4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77240" y="44805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A9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transparent knob. One explicit objective. No hidden retraining.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1737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Sweeping λ traces the frontier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2286000"/>
            <a:ext cx="182880" cy="457200"/>
          </a:xfrm>
          <a:prstGeom prst="rect">
            <a:avLst/>
          </a:prstGeom>
          <a:solidFill>
            <a:srgbClr val="7FA97C"/>
          </a:solidFill>
          <a:ln w="12700">
            <a:solidFill>
              <a:srgbClr val="7FA9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74536" y="2286000"/>
            <a:ext cx="182880" cy="457200"/>
          </a:xfrm>
          <a:prstGeom prst="rect">
            <a:avLst/>
          </a:prstGeom>
          <a:solidFill>
            <a:srgbClr val="81A679"/>
          </a:solidFill>
          <a:ln w="12700">
            <a:solidFill>
              <a:srgbClr val="81A67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48272" y="2286000"/>
            <a:ext cx="182880" cy="457200"/>
          </a:xfrm>
          <a:prstGeom prst="rect">
            <a:avLst/>
          </a:prstGeom>
          <a:solidFill>
            <a:srgbClr val="84A477"/>
          </a:solidFill>
          <a:ln w="12700">
            <a:solidFill>
              <a:srgbClr val="84A47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22008" y="2286000"/>
            <a:ext cx="182880" cy="457200"/>
          </a:xfrm>
          <a:prstGeom prst="rect">
            <a:avLst/>
          </a:prstGeom>
          <a:solidFill>
            <a:srgbClr val="86A174"/>
          </a:solidFill>
          <a:ln w="12700">
            <a:solidFill>
              <a:srgbClr val="86A17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95744" y="2286000"/>
            <a:ext cx="182880" cy="457200"/>
          </a:xfrm>
          <a:prstGeom prst="rect">
            <a:avLst/>
          </a:prstGeom>
          <a:solidFill>
            <a:srgbClr val="899F71"/>
          </a:solidFill>
          <a:ln w="12700">
            <a:solidFill>
              <a:srgbClr val="899F7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69480" y="2286000"/>
            <a:ext cx="182880" cy="457200"/>
          </a:xfrm>
          <a:prstGeom prst="rect">
            <a:avLst/>
          </a:prstGeom>
          <a:solidFill>
            <a:srgbClr val="8B9C6F"/>
          </a:solidFill>
          <a:ln w="12700">
            <a:solidFill>
              <a:srgbClr val="8B9C6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43216" y="2286000"/>
            <a:ext cx="182880" cy="457200"/>
          </a:xfrm>
          <a:prstGeom prst="rect">
            <a:avLst/>
          </a:prstGeom>
          <a:solidFill>
            <a:srgbClr val="8E996C"/>
          </a:solidFill>
          <a:ln w="12700">
            <a:solidFill>
              <a:srgbClr val="8E996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16952" y="2286000"/>
            <a:ext cx="182880" cy="457200"/>
          </a:xfrm>
          <a:prstGeom prst="rect">
            <a:avLst/>
          </a:prstGeom>
          <a:solidFill>
            <a:srgbClr val="909769"/>
          </a:solidFill>
          <a:ln w="12700">
            <a:solidFill>
              <a:srgbClr val="9097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90688" y="2286000"/>
            <a:ext cx="182880" cy="457200"/>
          </a:xfrm>
          <a:prstGeom prst="rect">
            <a:avLst/>
          </a:prstGeom>
          <a:solidFill>
            <a:srgbClr val="939467"/>
          </a:solidFill>
          <a:ln w="12700">
            <a:solidFill>
              <a:srgbClr val="93946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64424" y="2286000"/>
            <a:ext cx="182880" cy="457200"/>
          </a:xfrm>
          <a:prstGeom prst="rect">
            <a:avLst/>
          </a:prstGeom>
          <a:solidFill>
            <a:srgbClr val="959164"/>
          </a:solidFill>
          <a:ln w="12700">
            <a:solidFill>
              <a:srgbClr val="95916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2286000"/>
            <a:ext cx="182880" cy="457200"/>
          </a:xfrm>
          <a:prstGeom prst="rect">
            <a:avLst/>
          </a:prstGeom>
          <a:solidFill>
            <a:srgbClr val="978F61"/>
          </a:solidFill>
          <a:ln w="12700">
            <a:solidFill>
              <a:srgbClr val="978F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11896" y="2286000"/>
            <a:ext cx="182880" cy="457200"/>
          </a:xfrm>
          <a:prstGeom prst="rect">
            <a:avLst/>
          </a:prstGeom>
          <a:solidFill>
            <a:srgbClr val="9A8C5F"/>
          </a:solidFill>
          <a:ln w="12700">
            <a:solidFill>
              <a:srgbClr val="9A8C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85632" y="2286000"/>
            <a:ext cx="182880" cy="457200"/>
          </a:xfrm>
          <a:prstGeom prst="rect">
            <a:avLst/>
          </a:prstGeom>
          <a:solidFill>
            <a:srgbClr val="9C8A5C"/>
          </a:solidFill>
          <a:ln w="12700">
            <a:solidFill>
              <a:srgbClr val="9C8A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59368" y="2286000"/>
            <a:ext cx="182880" cy="457200"/>
          </a:xfrm>
          <a:prstGeom prst="rect">
            <a:avLst/>
          </a:prstGeom>
          <a:solidFill>
            <a:srgbClr val="9F8759"/>
          </a:solidFill>
          <a:ln w="12700">
            <a:solidFill>
              <a:srgbClr val="9F875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33104" y="2286000"/>
            <a:ext cx="182880" cy="457200"/>
          </a:xfrm>
          <a:prstGeom prst="rect">
            <a:avLst/>
          </a:prstGeom>
          <a:solidFill>
            <a:srgbClr val="A18457"/>
          </a:solidFill>
          <a:ln w="12700">
            <a:solidFill>
              <a:srgbClr val="A1845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06840" y="2286000"/>
            <a:ext cx="182880" cy="457200"/>
          </a:xfrm>
          <a:prstGeom prst="rect">
            <a:avLst/>
          </a:prstGeom>
          <a:solidFill>
            <a:srgbClr val="A48254"/>
          </a:solidFill>
          <a:ln w="12700">
            <a:solidFill>
              <a:srgbClr val="A4825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80576" y="2286000"/>
            <a:ext cx="182880" cy="457200"/>
          </a:xfrm>
          <a:prstGeom prst="rect">
            <a:avLst/>
          </a:prstGeom>
          <a:solidFill>
            <a:srgbClr val="A67F52"/>
          </a:solidFill>
          <a:ln w="12700">
            <a:solidFill>
              <a:srgbClr val="A67F5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354312" y="2286000"/>
            <a:ext cx="182880" cy="457200"/>
          </a:xfrm>
          <a:prstGeom prst="rect">
            <a:avLst/>
          </a:prstGeom>
          <a:solidFill>
            <a:srgbClr val="A97C4F"/>
          </a:solidFill>
          <a:ln w="12700">
            <a:solidFill>
              <a:srgbClr val="A97C4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28048" y="2286000"/>
            <a:ext cx="182880" cy="457200"/>
          </a:xfrm>
          <a:prstGeom prst="rect">
            <a:avLst/>
          </a:prstGeom>
          <a:solidFill>
            <a:srgbClr val="AB7A4C"/>
          </a:solidFill>
          <a:ln w="12700">
            <a:solidFill>
              <a:srgbClr val="AB7A4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701784" y="2286000"/>
            <a:ext cx="182880" cy="457200"/>
          </a:xfrm>
          <a:prstGeom prst="rect">
            <a:avLst/>
          </a:prstGeom>
          <a:solidFill>
            <a:srgbClr val="AE774A"/>
          </a:solidFill>
          <a:ln w="12700">
            <a:solidFill>
              <a:srgbClr val="AE77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875520" y="2286000"/>
            <a:ext cx="182880" cy="457200"/>
          </a:xfrm>
          <a:prstGeom prst="rect">
            <a:avLst/>
          </a:prstGeom>
          <a:solidFill>
            <a:srgbClr val="B07547"/>
          </a:solidFill>
          <a:ln w="12700">
            <a:solidFill>
              <a:srgbClr val="B0754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049256" y="2286000"/>
            <a:ext cx="182880" cy="457200"/>
          </a:xfrm>
          <a:prstGeom prst="rect">
            <a:avLst/>
          </a:prstGeom>
          <a:solidFill>
            <a:srgbClr val="B27244"/>
          </a:solidFill>
          <a:ln w="12700">
            <a:solidFill>
              <a:srgbClr val="B2724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222992" y="2286000"/>
            <a:ext cx="182880" cy="457200"/>
          </a:xfrm>
          <a:prstGeom prst="rect">
            <a:avLst/>
          </a:prstGeom>
          <a:solidFill>
            <a:srgbClr val="B56F42"/>
          </a:solidFill>
          <a:ln w="12700">
            <a:solidFill>
              <a:srgbClr val="B56F4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396728" y="2286000"/>
            <a:ext cx="182880" cy="457200"/>
          </a:xfrm>
          <a:prstGeom prst="rect">
            <a:avLst/>
          </a:prstGeom>
          <a:solidFill>
            <a:srgbClr val="B76D3F"/>
          </a:solidFill>
          <a:ln w="12700">
            <a:solidFill>
              <a:srgbClr val="B76D3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570464" y="2286000"/>
            <a:ext cx="182880" cy="457200"/>
          </a:xfrm>
          <a:prstGeom prst="rect">
            <a:avLst/>
          </a:prstGeom>
          <a:solidFill>
            <a:srgbClr val="BA6A3C"/>
          </a:solidFill>
          <a:ln w="12700">
            <a:solidFill>
              <a:srgbClr val="BA6A3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744200" y="2286000"/>
            <a:ext cx="182880" cy="457200"/>
          </a:xfrm>
          <a:prstGeom prst="rect">
            <a:avLst/>
          </a:prstGeom>
          <a:solidFill>
            <a:srgbClr val="BC673A"/>
          </a:solidFill>
          <a:ln w="12700">
            <a:solidFill>
              <a:srgbClr val="BC673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917936" y="2286000"/>
            <a:ext cx="182880" cy="457200"/>
          </a:xfrm>
          <a:prstGeom prst="rect">
            <a:avLst/>
          </a:prstGeom>
          <a:solidFill>
            <a:srgbClr val="BF6537"/>
          </a:solidFill>
          <a:ln w="12700">
            <a:solidFill>
              <a:srgbClr val="BF653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091672" y="2286000"/>
            <a:ext cx="182880" cy="457200"/>
          </a:xfrm>
          <a:prstGeom prst="rect">
            <a:avLst/>
          </a:prstGeom>
          <a:solidFill>
            <a:srgbClr val="C16234"/>
          </a:solidFill>
          <a:ln w="12700">
            <a:solidFill>
              <a:srgbClr val="C1623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265408" y="2286000"/>
            <a:ext cx="182880" cy="457200"/>
          </a:xfrm>
          <a:prstGeom prst="rect">
            <a:avLst/>
          </a:prstGeom>
          <a:solidFill>
            <a:srgbClr val="C46032"/>
          </a:solidFill>
          <a:ln w="12700">
            <a:solidFill>
              <a:srgbClr val="C4603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439144" y="2286000"/>
            <a:ext cx="182880" cy="457200"/>
          </a:xfrm>
          <a:prstGeom prst="rect">
            <a:avLst/>
          </a:prstGeom>
          <a:solidFill>
            <a:srgbClr val="C65D2F"/>
          </a:solidFill>
          <a:ln w="12700">
            <a:solidFill>
              <a:srgbClr val="C65D2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0" y="27889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0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10515600" y="27889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65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1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40080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engagement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86968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carbon minimization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400800" y="3886200"/>
            <a:ext cx="5257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00800" y="3886200"/>
            <a:ext cx="91440" cy="1737360"/>
          </a:xfrm>
          <a:prstGeom prst="rect">
            <a:avLst/>
          </a:prstGeom>
          <a:solidFill>
            <a:srgbClr val="C65D2F"/>
          </a:solidFill>
          <a:ln w="12700">
            <a:solidFill>
              <a:srgbClr val="C65D2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29400" y="4023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5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framing?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629400" y="43891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Post-hoc re-ranking avoids expensive re-training, isolates the trade-off in one parameter, and keeps the engagement model auditable.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9525">
            <a:solidFill>
              <a:srgbClr val="D8D3C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Engagement for Sustainability  |  CS294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SCOPE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Setup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11155680" cy="1005840"/>
          </a:xfrm>
          <a:prstGeom prst="rect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 Reviews — three product categories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" y="2971800"/>
            <a:ext cx="35935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971800"/>
            <a:ext cx="3593592" cy="73152"/>
          </a:xfrm>
          <a:prstGeom prst="rect">
            <a:avLst/>
          </a:prstGeom>
          <a:solidFill>
            <a:srgbClr val="7FA97C"/>
          </a:solidFill>
          <a:ln w="12700">
            <a:solidFill>
              <a:srgbClr val="7FA9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108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Electronics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3520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High-spread catalog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79392" y="2971800"/>
            <a:ext cx="35935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79392" y="2971800"/>
            <a:ext cx="3593592" cy="73152"/>
          </a:xfrm>
          <a:prstGeom prst="rect">
            <a:avLst/>
          </a:prstGeom>
          <a:solidFill>
            <a:srgbClr val="7FA97C"/>
          </a:solidFill>
          <a:ln w="12700">
            <a:solidFill>
              <a:srgbClr val="7FA9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07992" y="3108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&amp; Kitchen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07992" y="3520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PCF range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55864" y="2971800"/>
            <a:ext cx="35935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55864" y="2971800"/>
            <a:ext cx="3593592" cy="73152"/>
          </a:xfrm>
          <a:prstGeom prst="rect">
            <a:avLst/>
          </a:prstGeom>
          <a:solidFill>
            <a:srgbClr val="7FA97C"/>
          </a:solidFill>
          <a:ln w="12700">
            <a:solidFill>
              <a:srgbClr val="7FA9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84464" y="3108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Sports &amp; Outdoors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84464" y="3520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carbon headroom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709160"/>
            <a:ext cx="359359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709160"/>
            <a:ext cx="91440" cy="1143000"/>
          </a:xfrm>
          <a:prstGeom prst="rect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8463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77240" y="5303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quality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79392" y="4709160"/>
            <a:ext cx="359359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79392" y="4709160"/>
            <a:ext cx="91440" cy="1143000"/>
          </a:xfrm>
          <a:prstGeom prst="rect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53712" y="48463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Recall@10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53712" y="5303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of relevant items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55864" y="4709160"/>
            <a:ext cx="359359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55864" y="4709160"/>
            <a:ext cx="91440" cy="1143000"/>
          </a:xfrm>
          <a:prstGeom prst="rect">
            <a:avLst/>
          </a:prstGeom>
          <a:solidFill>
            <a:srgbClr val="C65D2F"/>
          </a:solidFill>
          <a:ln w="12700">
            <a:solidFill>
              <a:srgbClr val="C65D2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30184" y="48463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5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AvgPCF@10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330184" y="5303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carbon footprint of top-10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Evaluated across a sweep of λ ∈ {0.0, 0.1, ..., 1.0}  to trace the engagement–carbon frontier.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9525">
            <a:solidFill>
              <a:srgbClr val="D8D3C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Engagement for Sustainability  |  CS294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RESULT, UPSTREAM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PCF Estimation: Good Enough to Use</a:t>
            </a:r>
            <a:endParaRPr lang="en-US" sz="3000" dirty="0"/>
          </a:p>
        </p:txBody>
      </p:sp>
      <p:pic>
        <p:nvPicPr>
          <p:cNvPr id="5" name="Image 0" descr="fig/pcf_subset_ma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276034"/>
            <a:ext cx="6400800" cy="34032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 on the consumer-scale holdout.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178040" y="1874520"/>
            <a:ext cx="448056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78040" y="1874520"/>
            <a:ext cx="4480560" cy="91440"/>
          </a:xfrm>
          <a:prstGeom prst="rect">
            <a:avLst/>
          </a:prstGeom>
          <a:solidFill>
            <a:srgbClr val="7FA97C"/>
          </a:solidFill>
          <a:ln w="12700">
            <a:solidFill>
              <a:srgbClr val="7FA97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6640" y="2057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06640" y="2423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Few-shot LLM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406640" y="27889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absolute-error metrics on the consumer-scale subset (MAE 695, median AE 59).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406640" y="3611880"/>
            <a:ext cx="4114800" cy="0"/>
          </a:xfrm>
          <a:prstGeom prst="line">
            <a:avLst/>
          </a:prstGeom>
          <a:noFill/>
          <a:ln w="6350">
            <a:solidFill>
              <a:srgbClr val="D8D3C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06640" y="3749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Neighbour average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406640" y="41148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rank correlation (Spearman ρ ≈ 0.73) — preserves ordering.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406640" y="4937760"/>
            <a:ext cx="4114800" cy="0"/>
          </a:xfrm>
          <a:prstGeom prst="line">
            <a:avLst/>
          </a:prstGeom>
          <a:noFill/>
          <a:ln w="6350">
            <a:solidFill>
              <a:srgbClr val="D8D3C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06640" y="5074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5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Selected hybrid PCF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406640" y="54406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matches few-shot accuracy while keeping full catalog coverage.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9525">
            <a:solidFill>
              <a:srgbClr val="D8D3C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Engagement for Sustainability  |  CS294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RESULT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Central Finding: Plateau, Then Cliff</a:t>
            </a:r>
            <a:endParaRPr lang="en-US" sz="3000" dirty="0"/>
          </a:p>
        </p:txBody>
      </p:sp>
      <p:pic>
        <p:nvPicPr>
          <p:cNvPr id="5" name="Image 0" descr="fig/lambda_sensitivity_electronics_NeuM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770" y="1783080"/>
            <a:ext cx="5626859" cy="4297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1722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λ-sensitivity, Electronics / NeuMF. NDCG@10 (solid) vs AvgPCF@10 (dashed).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498080" y="1783080"/>
            <a:ext cx="4160520" cy="4389120"/>
          </a:xfrm>
          <a:prstGeom prst="rect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0" y="1920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680960" y="21945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smooth sacrifice curve.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plateau, then a cliff.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7680960" y="3337560"/>
            <a:ext cx="3840480" cy="0"/>
          </a:xfrm>
          <a:prstGeom prst="line">
            <a:avLst/>
          </a:prstGeom>
          <a:noFill/>
          <a:ln w="10160">
            <a:solidFill>
              <a:srgbClr val="7FA97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0" y="3520440"/>
            <a:ext cx="38404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7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AvgPCF@10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steadily as λ grows.</a:t>
            </a:r>
            <a:pPr indent="0" marL="0">
              <a:lnSpc>
                <a:spcPct val="1350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7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nearly flat across a wide λ range.</a:t>
            </a:r>
            <a:pPr indent="0" marL="0">
              <a:lnSpc>
                <a:spcPct val="1350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only collapses at λ = 1 — the carbon-only endpoint.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9525">
            <a:solidFill>
              <a:srgbClr val="D8D3C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Engagement for Sustainability  |  CS294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RESULT, RQ3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Comparison: Which Backbone Wins?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783080"/>
          <a:ext cx="722376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1783080"/>
            <a:ext cx="37947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63840" y="1783080"/>
            <a:ext cx="91440" cy="3337560"/>
          </a:xfrm>
          <a:prstGeom prst="rect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92440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 AT λ*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092440" y="224028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869680" y="224028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738360" y="224028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LightGCN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789920" y="224028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NeuMF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092440" y="255117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869680" y="255117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0.0094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738360" y="255117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0.0158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789920" y="255117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0.0289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092440" y="286207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&amp; K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869680" y="286207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0.0115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738360" y="286207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0.0119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789920" y="286207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0.0327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092440" y="317296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&amp; O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869680" y="317296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0.0059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738360" y="317296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0.0139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789920" y="317296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0.0155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092440" y="397764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NeuMF has the highest NDCG@10 baseline in all three categories.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02920" y="5303520"/>
            <a:ext cx="359359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02920" y="5303520"/>
            <a:ext cx="91440" cy="1097280"/>
          </a:xfrm>
          <a:prstGeom prst="rect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77240" y="53766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NeuMF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777240" y="57150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QUALITY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77240" y="59436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absolute engagement baseline in every category.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279392" y="5303520"/>
            <a:ext cx="359359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279392" y="5303520"/>
            <a:ext cx="91440" cy="1097280"/>
          </a:xfrm>
          <a:prstGeom prst="rect">
            <a:avLst/>
          </a:prstGeom>
          <a:solidFill>
            <a:srgbClr val="C65D2F"/>
          </a:solidFill>
          <a:ln w="12700">
            <a:solidFill>
              <a:srgbClr val="C65D2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53712" y="53766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5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LightGCN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4553712" y="57150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REDUCTION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553712" y="59436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the most carbon headroom within a 5% NDCG budget (e.g. 66% in Sports &amp; Outdoors).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8055864" y="5303520"/>
            <a:ext cx="359359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055864" y="5303520"/>
            <a:ext cx="91440" cy="1097280"/>
          </a:xfrm>
          <a:prstGeom prst="rect">
            <a:avLst/>
          </a:prstGeom>
          <a:solidFill>
            <a:srgbClr val="4B7F52"/>
          </a:solidFill>
          <a:ln w="12700">
            <a:solidFill>
              <a:srgbClr val="4B7F52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330184" y="53766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7F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BPR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8330184" y="57150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BUDGET OPTION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8330184" y="59436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practical carbon cuts at λ = 0.9 when baseline engagement is not the priority.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9525">
            <a:solidFill>
              <a:srgbClr val="D8D3C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Engagement for Sustainability  |  CS294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RESULT, CATEGORY EFFECTS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 Matters: The Trade-off Depends on the Catalog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645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CARBON REDUCTION WITHIN 5% NDCG BUDGET  (%)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514600" y="20116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BPR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13632" y="20116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LightGCN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12664" y="20116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NeuMF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42316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Electronics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14600" y="2423160"/>
            <a:ext cx="1325880" cy="960120"/>
          </a:xfrm>
          <a:prstGeom prst="rect">
            <a:avLst/>
          </a:prstGeom>
          <a:solidFill>
            <a:srgbClr val="708375"/>
          </a:solidFill>
          <a:ln w="6350">
            <a:solidFill>
              <a:srgbClr val="D8D3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242316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41.9%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913632" y="2423160"/>
            <a:ext cx="1325880" cy="960120"/>
          </a:xfrm>
          <a:prstGeom prst="rect">
            <a:avLst/>
          </a:prstGeom>
          <a:solidFill>
            <a:srgbClr val="65796B"/>
          </a:solidFill>
          <a:ln w="6350">
            <a:solidFill>
              <a:srgbClr val="D8D3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13632" y="242316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45.7%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312664" y="2423160"/>
            <a:ext cx="1325880" cy="960120"/>
          </a:xfrm>
          <a:prstGeom prst="rect">
            <a:avLst/>
          </a:prstGeom>
          <a:solidFill>
            <a:srgbClr val="C8D2C3"/>
          </a:solidFill>
          <a:ln w="6350">
            <a:solidFill>
              <a:srgbClr val="D8D3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12664" y="242316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11.2%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77240" y="3456432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&amp; Kitchen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3456432"/>
            <a:ext cx="1325880" cy="960120"/>
          </a:xfrm>
          <a:prstGeom prst="rect">
            <a:avLst/>
          </a:prstGeom>
          <a:solidFill>
            <a:srgbClr val="849587"/>
          </a:solidFill>
          <a:ln w="6350">
            <a:solidFill>
              <a:srgbClr val="D8D3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3456432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34.7%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913632" y="3456432"/>
            <a:ext cx="1325880" cy="960120"/>
          </a:xfrm>
          <a:prstGeom prst="rect">
            <a:avLst/>
          </a:prstGeom>
          <a:solidFill>
            <a:srgbClr val="92A294"/>
          </a:solidFill>
          <a:ln w="6350">
            <a:solidFill>
              <a:srgbClr val="D8D3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13632" y="3456432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29.8%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312664" y="3456432"/>
            <a:ext cx="1325880" cy="960120"/>
          </a:xfrm>
          <a:prstGeom prst="rect">
            <a:avLst/>
          </a:prstGeom>
          <a:solidFill>
            <a:srgbClr val="7B8C7F"/>
          </a:solidFill>
          <a:ln w="6350">
            <a:solidFill>
              <a:srgbClr val="D8D3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12664" y="3456432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38.1%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77240" y="4489704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Sports &amp; Outdoors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514600" y="4489704"/>
            <a:ext cx="1325880" cy="960120"/>
          </a:xfrm>
          <a:prstGeom prst="rect">
            <a:avLst/>
          </a:prstGeom>
          <a:solidFill>
            <a:srgbClr val="30493D"/>
          </a:solidFill>
          <a:ln w="6350">
            <a:solidFill>
              <a:srgbClr val="D8D3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14600" y="4489704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64.2%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3913632" y="4489704"/>
            <a:ext cx="1325880" cy="960120"/>
          </a:xfrm>
          <a:prstGeom prst="rect">
            <a:avLst/>
          </a:prstGeom>
          <a:solidFill>
            <a:srgbClr val="2A4438"/>
          </a:solidFill>
          <a:ln w="6350">
            <a:solidFill>
              <a:srgbClr val="D8D3C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13632" y="4489704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66.0%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312664" y="4489704"/>
            <a:ext cx="1325880" cy="960120"/>
          </a:xfrm>
          <a:prstGeom prst="rect">
            <a:avLst/>
          </a:prstGeom>
          <a:solidFill>
            <a:srgbClr val="8E9E90"/>
          </a:solidFill>
          <a:ln w="6350">
            <a:solidFill>
              <a:srgbClr val="D8D3C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12664" y="4489704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31.3%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2514600" y="5660136"/>
            <a:ext cx="112243" cy="182880"/>
          </a:xfrm>
          <a:prstGeom prst="rect">
            <a:avLst/>
          </a:prstGeom>
          <a:solidFill>
            <a:srgbClr val="E8EFDF"/>
          </a:solidFill>
          <a:ln w="12700">
            <a:solidFill>
              <a:srgbClr val="E8EFD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17699" y="5660136"/>
            <a:ext cx="112243" cy="182880"/>
          </a:xfrm>
          <a:prstGeom prst="rect">
            <a:avLst/>
          </a:prstGeom>
          <a:solidFill>
            <a:srgbClr val="E3EADA"/>
          </a:solidFill>
          <a:ln w="12700">
            <a:solidFill>
              <a:srgbClr val="E3EAD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20797" y="5660136"/>
            <a:ext cx="112243" cy="182880"/>
          </a:xfrm>
          <a:prstGeom prst="rect">
            <a:avLst/>
          </a:prstGeom>
          <a:solidFill>
            <a:srgbClr val="DEE6D6"/>
          </a:solidFill>
          <a:ln w="12700">
            <a:solidFill>
              <a:srgbClr val="DEE6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23896" y="5660136"/>
            <a:ext cx="112243" cy="182880"/>
          </a:xfrm>
          <a:prstGeom prst="rect">
            <a:avLst/>
          </a:prstGeom>
          <a:solidFill>
            <a:srgbClr val="D9E1D1"/>
          </a:solidFill>
          <a:ln w="12700">
            <a:solidFill>
              <a:srgbClr val="D9E1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26994" y="5660136"/>
            <a:ext cx="112243" cy="182880"/>
          </a:xfrm>
          <a:prstGeom prst="rect">
            <a:avLst/>
          </a:prstGeom>
          <a:solidFill>
            <a:srgbClr val="D3DCCD"/>
          </a:solidFill>
          <a:ln w="12700">
            <a:solidFill>
              <a:srgbClr val="D3DCC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30093" y="5660136"/>
            <a:ext cx="112243" cy="182880"/>
          </a:xfrm>
          <a:prstGeom prst="rect">
            <a:avLst/>
          </a:prstGeom>
          <a:solidFill>
            <a:srgbClr val="CED8C8"/>
          </a:solidFill>
          <a:ln w="12700">
            <a:solidFill>
              <a:srgbClr val="CED8C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133192" y="5660136"/>
            <a:ext cx="112243" cy="182880"/>
          </a:xfrm>
          <a:prstGeom prst="rect">
            <a:avLst/>
          </a:prstGeom>
          <a:solidFill>
            <a:srgbClr val="C9D3C4"/>
          </a:solidFill>
          <a:ln w="12700">
            <a:solidFill>
              <a:srgbClr val="C9D3C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36290" y="5660136"/>
            <a:ext cx="112243" cy="182880"/>
          </a:xfrm>
          <a:prstGeom prst="rect">
            <a:avLst/>
          </a:prstGeom>
          <a:solidFill>
            <a:srgbClr val="C4CFBF"/>
          </a:solidFill>
          <a:ln w="12700">
            <a:solidFill>
              <a:srgbClr val="C4CFB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39389" y="5660136"/>
            <a:ext cx="112243" cy="182880"/>
          </a:xfrm>
          <a:prstGeom prst="rect">
            <a:avLst/>
          </a:prstGeom>
          <a:solidFill>
            <a:srgbClr val="BFCABB"/>
          </a:solidFill>
          <a:ln w="12700">
            <a:solidFill>
              <a:srgbClr val="BFCAB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42487" y="5660136"/>
            <a:ext cx="112243" cy="182880"/>
          </a:xfrm>
          <a:prstGeom prst="rect">
            <a:avLst/>
          </a:prstGeom>
          <a:solidFill>
            <a:srgbClr val="BAC5B6"/>
          </a:solidFill>
          <a:ln w="12700">
            <a:solidFill>
              <a:srgbClr val="BAC5B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45586" y="5660136"/>
            <a:ext cx="112243" cy="182880"/>
          </a:xfrm>
          <a:prstGeom prst="rect">
            <a:avLst/>
          </a:prstGeom>
          <a:solidFill>
            <a:srgbClr val="B4C1B2"/>
          </a:solidFill>
          <a:ln w="12700">
            <a:solidFill>
              <a:srgbClr val="B4C1B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48685" y="5660136"/>
            <a:ext cx="112243" cy="182880"/>
          </a:xfrm>
          <a:prstGeom prst="rect">
            <a:avLst/>
          </a:prstGeom>
          <a:solidFill>
            <a:srgbClr val="AFBCAD"/>
          </a:solidFill>
          <a:ln w="12700">
            <a:solidFill>
              <a:srgbClr val="AFBCA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51783" y="5660136"/>
            <a:ext cx="112243" cy="182880"/>
          </a:xfrm>
          <a:prstGeom prst="rect">
            <a:avLst/>
          </a:prstGeom>
          <a:solidFill>
            <a:srgbClr val="AAB7A9"/>
          </a:solidFill>
          <a:ln w="12700">
            <a:solidFill>
              <a:srgbClr val="AAB7A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54882" y="5660136"/>
            <a:ext cx="112243" cy="182880"/>
          </a:xfrm>
          <a:prstGeom prst="rect">
            <a:avLst/>
          </a:prstGeom>
          <a:solidFill>
            <a:srgbClr val="A5B3A4"/>
          </a:solidFill>
          <a:ln w="12700">
            <a:solidFill>
              <a:srgbClr val="A5B3A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957980" y="5660136"/>
            <a:ext cx="112243" cy="182880"/>
          </a:xfrm>
          <a:prstGeom prst="rect">
            <a:avLst/>
          </a:prstGeom>
          <a:solidFill>
            <a:srgbClr val="A0AE9F"/>
          </a:solidFill>
          <a:ln w="12700">
            <a:solidFill>
              <a:srgbClr val="A0AE9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061079" y="5660136"/>
            <a:ext cx="112243" cy="182880"/>
          </a:xfrm>
          <a:prstGeom prst="rect">
            <a:avLst/>
          </a:prstGeom>
          <a:solidFill>
            <a:srgbClr val="9BA99B"/>
          </a:solidFill>
          <a:ln w="12700">
            <a:solidFill>
              <a:srgbClr val="9BA99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164178" y="5660136"/>
            <a:ext cx="112243" cy="182880"/>
          </a:xfrm>
          <a:prstGeom prst="rect">
            <a:avLst/>
          </a:prstGeom>
          <a:solidFill>
            <a:srgbClr val="96A596"/>
          </a:solidFill>
          <a:ln w="12700">
            <a:solidFill>
              <a:srgbClr val="96A59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267276" y="5660136"/>
            <a:ext cx="112243" cy="182880"/>
          </a:xfrm>
          <a:prstGeom prst="rect">
            <a:avLst/>
          </a:prstGeom>
          <a:solidFill>
            <a:srgbClr val="90A092"/>
          </a:solidFill>
          <a:ln w="12700">
            <a:solidFill>
              <a:srgbClr val="90A09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370375" y="5660136"/>
            <a:ext cx="112243" cy="182880"/>
          </a:xfrm>
          <a:prstGeom prst="rect">
            <a:avLst/>
          </a:prstGeom>
          <a:solidFill>
            <a:srgbClr val="8B9B8D"/>
          </a:solidFill>
          <a:ln w="12700">
            <a:solidFill>
              <a:srgbClr val="8B9B8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473473" y="5660136"/>
            <a:ext cx="112243" cy="182880"/>
          </a:xfrm>
          <a:prstGeom prst="rect">
            <a:avLst/>
          </a:prstGeom>
          <a:solidFill>
            <a:srgbClr val="869789"/>
          </a:solidFill>
          <a:ln w="12700">
            <a:solidFill>
              <a:srgbClr val="86978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76572" y="5660136"/>
            <a:ext cx="112243" cy="182880"/>
          </a:xfrm>
          <a:prstGeom prst="rect">
            <a:avLst/>
          </a:prstGeom>
          <a:solidFill>
            <a:srgbClr val="819284"/>
          </a:solidFill>
          <a:ln w="12700">
            <a:solidFill>
              <a:srgbClr val="81928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79671" y="5660136"/>
            <a:ext cx="112243" cy="182880"/>
          </a:xfrm>
          <a:prstGeom prst="rect">
            <a:avLst/>
          </a:prstGeom>
          <a:solidFill>
            <a:srgbClr val="7C8E80"/>
          </a:solidFill>
          <a:ln w="12700">
            <a:solidFill>
              <a:srgbClr val="7C8E8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82769" y="5660136"/>
            <a:ext cx="112243" cy="182880"/>
          </a:xfrm>
          <a:prstGeom prst="rect">
            <a:avLst/>
          </a:prstGeom>
          <a:solidFill>
            <a:srgbClr val="77897B"/>
          </a:solidFill>
          <a:ln w="12700">
            <a:solidFill>
              <a:srgbClr val="77897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85868" y="5660136"/>
            <a:ext cx="112243" cy="182880"/>
          </a:xfrm>
          <a:prstGeom prst="rect">
            <a:avLst/>
          </a:prstGeom>
          <a:solidFill>
            <a:srgbClr val="718477"/>
          </a:solidFill>
          <a:ln w="12700">
            <a:solidFill>
              <a:srgbClr val="71847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988966" y="5660136"/>
            <a:ext cx="112243" cy="182880"/>
          </a:xfrm>
          <a:prstGeom prst="rect">
            <a:avLst/>
          </a:prstGeom>
          <a:solidFill>
            <a:srgbClr val="6C8072"/>
          </a:solidFill>
          <a:ln w="12700">
            <a:solidFill>
              <a:srgbClr val="6C807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092065" y="5660136"/>
            <a:ext cx="112243" cy="182880"/>
          </a:xfrm>
          <a:prstGeom prst="rect">
            <a:avLst/>
          </a:prstGeom>
          <a:solidFill>
            <a:srgbClr val="677B6E"/>
          </a:solidFill>
          <a:ln w="12700">
            <a:solidFill>
              <a:srgbClr val="677B6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195164" y="5660136"/>
            <a:ext cx="112243" cy="182880"/>
          </a:xfrm>
          <a:prstGeom prst="rect">
            <a:avLst/>
          </a:prstGeom>
          <a:solidFill>
            <a:srgbClr val="627669"/>
          </a:solidFill>
          <a:ln w="12700">
            <a:solidFill>
              <a:srgbClr val="62766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298262" y="5660136"/>
            <a:ext cx="112243" cy="182880"/>
          </a:xfrm>
          <a:prstGeom prst="rect">
            <a:avLst/>
          </a:prstGeom>
          <a:solidFill>
            <a:srgbClr val="5D7264"/>
          </a:solidFill>
          <a:ln w="12700">
            <a:solidFill>
              <a:srgbClr val="5D726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401361" y="5660136"/>
            <a:ext cx="112243" cy="182880"/>
          </a:xfrm>
          <a:prstGeom prst="rect">
            <a:avLst/>
          </a:prstGeom>
          <a:solidFill>
            <a:srgbClr val="586D60"/>
          </a:solidFill>
          <a:ln w="12700">
            <a:solidFill>
              <a:srgbClr val="586D6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504459" y="5660136"/>
            <a:ext cx="112243" cy="182880"/>
          </a:xfrm>
          <a:prstGeom prst="rect">
            <a:avLst/>
          </a:prstGeom>
          <a:solidFill>
            <a:srgbClr val="53685B"/>
          </a:solidFill>
          <a:ln w="12700">
            <a:solidFill>
              <a:srgbClr val="53685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607558" y="5660136"/>
            <a:ext cx="112243" cy="182880"/>
          </a:xfrm>
          <a:prstGeom prst="rect">
            <a:avLst/>
          </a:prstGeom>
          <a:solidFill>
            <a:srgbClr val="4D6457"/>
          </a:solidFill>
          <a:ln w="12700">
            <a:solidFill>
              <a:srgbClr val="4D645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10657" y="5660136"/>
            <a:ext cx="112243" cy="182880"/>
          </a:xfrm>
          <a:prstGeom prst="rect">
            <a:avLst/>
          </a:prstGeom>
          <a:solidFill>
            <a:srgbClr val="485F52"/>
          </a:solidFill>
          <a:ln w="12700">
            <a:solidFill>
              <a:srgbClr val="485F5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813755" y="5660136"/>
            <a:ext cx="112243" cy="182880"/>
          </a:xfrm>
          <a:prstGeom prst="rect">
            <a:avLst/>
          </a:prstGeom>
          <a:solidFill>
            <a:srgbClr val="435A4E"/>
          </a:solidFill>
          <a:ln w="12700">
            <a:solidFill>
              <a:srgbClr val="435A4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916854" y="5660136"/>
            <a:ext cx="112243" cy="182880"/>
          </a:xfrm>
          <a:prstGeom prst="rect">
            <a:avLst/>
          </a:prstGeom>
          <a:solidFill>
            <a:srgbClr val="3E5649"/>
          </a:solidFill>
          <a:ln w="12700">
            <a:solidFill>
              <a:srgbClr val="3E564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019952" y="5660136"/>
            <a:ext cx="112243" cy="182880"/>
          </a:xfrm>
          <a:prstGeom prst="rect">
            <a:avLst/>
          </a:prstGeom>
          <a:solidFill>
            <a:srgbClr val="395145"/>
          </a:solidFill>
          <a:ln w="12700">
            <a:solidFill>
              <a:srgbClr val="39514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123051" y="5660136"/>
            <a:ext cx="112243" cy="182880"/>
          </a:xfrm>
          <a:prstGeom prst="rect">
            <a:avLst/>
          </a:prstGeom>
          <a:solidFill>
            <a:srgbClr val="344D40"/>
          </a:solidFill>
          <a:ln w="12700">
            <a:solidFill>
              <a:srgbClr val="344D4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226150" y="5660136"/>
            <a:ext cx="112243" cy="182880"/>
          </a:xfrm>
          <a:prstGeom prst="rect">
            <a:avLst/>
          </a:prstGeom>
          <a:solidFill>
            <a:srgbClr val="2E483C"/>
          </a:solidFill>
          <a:ln w="12700">
            <a:solidFill>
              <a:srgbClr val="2E483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329248" y="5660136"/>
            <a:ext cx="112243" cy="182880"/>
          </a:xfrm>
          <a:prstGeom prst="rect">
            <a:avLst/>
          </a:prstGeom>
          <a:solidFill>
            <a:srgbClr val="294337"/>
          </a:solidFill>
          <a:ln w="12700">
            <a:solidFill>
              <a:srgbClr val="29433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32347" y="5660136"/>
            <a:ext cx="112243" cy="182880"/>
          </a:xfrm>
          <a:prstGeom prst="rect">
            <a:avLst/>
          </a:prstGeom>
          <a:solidFill>
            <a:srgbClr val="243F33"/>
          </a:solidFill>
          <a:ln w="12700">
            <a:solidFill>
              <a:srgbClr val="243F3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535445" y="5660136"/>
            <a:ext cx="112243" cy="182880"/>
          </a:xfrm>
          <a:prstGeom prst="rect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194560" y="56418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656832" y="56418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777240" y="602589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from paper, §5.5 &amp; Table 2 (main.tex).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8001000" y="1828800"/>
            <a:ext cx="36576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001000" y="1828800"/>
            <a:ext cx="91440" cy="1234440"/>
          </a:xfrm>
          <a:prstGeom prst="rect">
            <a:avLst/>
          </a:prstGeom>
          <a:solidFill>
            <a:srgbClr val="7FA97C"/>
          </a:solidFill>
          <a:ln w="12700">
            <a:solidFill>
              <a:srgbClr val="7FA97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229600" y="19202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Sports &amp; Outdoors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8229600" y="228600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headroom — up to 66.0% reduction (LightGCN) within a 5% NDCG budget.</a:t>
            </a:r>
            <a:endParaRPr lang="en-US" sz="1150" dirty="0"/>
          </a:p>
        </p:txBody>
      </p:sp>
      <p:sp>
        <p:nvSpPr>
          <p:cNvPr id="77" name="Shape 75"/>
          <p:cNvSpPr/>
          <p:nvPr/>
        </p:nvSpPr>
        <p:spPr>
          <a:xfrm>
            <a:off x="8001000" y="3246120"/>
            <a:ext cx="36576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001000" y="3246120"/>
            <a:ext cx="91440" cy="1234440"/>
          </a:xfrm>
          <a:prstGeom prst="rect">
            <a:avLst/>
          </a:prstGeom>
          <a:solidFill>
            <a:srgbClr val="7FA97C"/>
          </a:solidFill>
          <a:ln w="12700">
            <a:solidFill>
              <a:srgbClr val="7FA97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229600" y="33375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Electronics</a:t>
            </a:r>
            <a:endParaRPr lang="en-US" sz="1400" dirty="0"/>
          </a:p>
        </p:txBody>
      </p:sp>
      <p:sp>
        <p:nvSpPr>
          <p:cNvPr id="80" name="Text 78"/>
          <p:cNvSpPr/>
          <p:nvPr/>
        </p:nvSpPr>
        <p:spPr>
          <a:xfrm>
            <a:off x="8229600" y="370332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room for graph-based models (LightGCN 45.7%, BPR 41.9%).</a:t>
            </a:r>
            <a:endParaRPr lang="en-US" sz="1150" dirty="0"/>
          </a:p>
        </p:txBody>
      </p:sp>
      <p:sp>
        <p:nvSpPr>
          <p:cNvPr id="81" name="Shape 79"/>
          <p:cNvSpPr/>
          <p:nvPr/>
        </p:nvSpPr>
        <p:spPr>
          <a:xfrm>
            <a:off x="8001000" y="4663440"/>
            <a:ext cx="36576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001000" y="4663440"/>
            <a:ext cx="91440" cy="1234440"/>
          </a:xfrm>
          <a:prstGeom prst="rect">
            <a:avLst/>
          </a:prstGeom>
          <a:solidFill>
            <a:srgbClr val="7FA97C"/>
          </a:solidFill>
          <a:ln w="12700">
            <a:solidFill>
              <a:srgbClr val="7FA97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229600" y="47548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&amp; Kitchen</a:t>
            </a:r>
            <a:endParaRPr lang="en-US" sz="1400" dirty="0"/>
          </a:p>
        </p:txBody>
      </p:sp>
      <p:sp>
        <p:nvSpPr>
          <p:cNvPr id="84" name="Text 82"/>
          <p:cNvSpPr/>
          <p:nvPr/>
        </p:nvSpPr>
        <p:spPr>
          <a:xfrm>
            <a:off x="8229600" y="512064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Tighter overall, but NeuMF is the notable exception (38.1% at λ = 0.9).</a:t>
            </a:r>
            <a:endParaRPr lang="en-US" sz="1150" dirty="0"/>
          </a:p>
        </p:txBody>
      </p:sp>
      <p:sp>
        <p:nvSpPr>
          <p:cNvPr id="85" name="Text 83"/>
          <p:cNvSpPr/>
          <p:nvPr/>
        </p:nvSpPr>
        <p:spPr>
          <a:xfrm>
            <a:off x="502920" y="61722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achievable trade-off is driven jointly by recommendation backbone and category-specific carbon scale.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9525">
            <a:solidFill>
              <a:srgbClr val="D8D3C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Engagement for Sustainability  |  CS294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Learned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5440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37360"/>
            <a:ext cx="91440" cy="2011680"/>
          </a:xfrm>
          <a:prstGeom prst="rect">
            <a:avLst/>
          </a:prstGeom>
          <a:solidFill>
            <a:srgbClr val="7FA97C"/>
          </a:solidFill>
          <a:ln w="12700">
            <a:solidFill>
              <a:srgbClr val="7FA9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FA9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2677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Substantial carbon reduction is available.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8346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66% less carbon in the recommended top-10 — before engagement collapses.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5440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737360"/>
            <a:ext cx="91440" cy="2011680"/>
          </a:xfrm>
          <a:prstGeom prst="rect">
            <a:avLst/>
          </a:prstGeom>
          <a:solidFill>
            <a:srgbClr val="7FA97C"/>
          </a:solidFill>
          <a:ln w="12700">
            <a:solidFill>
              <a:srgbClr val="7FA9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8745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FA9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22677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low engagement cost.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92240" y="28346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λ up to ~0.6–0.9, NDCG@10 stays essentially flat across nine model–category combinations.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931920"/>
            <a:ext cx="5440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931920"/>
            <a:ext cx="91440" cy="2011680"/>
          </a:xfrm>
          <a:prstGeom prst="rect">
            <a:avLst/>
          </a:prstGeom>
          <a:solidFill>
            <a:srgbClr val="7FA97C"/>
          </a:solidFill>
          <a:ln w="12700">
            <a:solidFill>
              <a:srgbClr val="7FA9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069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FA9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46227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Transparent post-hoc control.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77240" y="502920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interpretable parameter — no hidden objective, no retraining of the recommender.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17920" y="3931920"/>
            <a:ext cx="5440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931920"/>
            <a:ext cx="91440" cy="2011680"/>
          </a:xfrm>
          <a:prstGeom prst="rect">
            <a:avLst/>
          </a:prstGeom>
          <a:solidFill>
            <a:srgbClr val="7FA97C"/>
          </a:solidFill>
          <a:ln w="12700">
            <a:solidFill>
              <a:srgbClr val="7FA9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4069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FA9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92240" y="446227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Operating point is not universal.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92240" y="502920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λ depends on both the recommendation backbone and the category-specific carbon scale.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920" y="61722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Sustainability objectives can be added to existing recommender systems — without retraining everything from scratch.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9525">
            <a:solidFill>
              <a:srgbClr val="D8D3C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Engagement for Sustainability  |  CS294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Next Steps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65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5440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103120"/>
            <a:ext cx="91440" cy="1097280"/>
          </a:xfrm>
          <a:prstGeom prst="rect">
            <a:avLst/>
          </a:prstGeom>
          <a:solidFill>
            <a:srgbClr val="C65D2F"/>
          </a:solidFill>
          <a:ln w="12700">
            <a:solidFill>
              <a:srgbClr val="C65D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9456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Predicted PCFs, not true LCAs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errors propagate into the carbon term.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383280"/>
            <a:ext cx="5440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3383280"/>
            <a:ext cx="91440" cy="1097280"/>
          </a:xfrm>
          <a:prstGeom prst="rect">
            <a:avLst/>
          </a:prstGeom>
          <a:solidFill>
            <a:srgbClr val="C65D2F"/>
          </a:solidFill>
          <a:ln w="12700">
            <a:solidFill>
              <a:srgbClr val="C65D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47472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Offline evaluation only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388620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response to sustainability-aware rankings is not observed.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4663440"/>
            <a:ext cx="5440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4663440"/>
            <a:ext cx="91440" cy="1097280"/>
          </a:xfrm>
          <a:prstGeom prst="rect">
            <a:avLst/>
          </a:prstGeom>
          <a:solidFill>
            <a:srgbClr val="C65D2F"/>
          </a:solidFill>
          <a:ln w="12700">
            <a:solidFill>
              <a:srgbClr val="C65D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75488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Reviews as engagement proxy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516636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reviews are selection-biased and sparse.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103120"/>
            <a:ext cx="5440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2103120"/>
            <a:ext cx="91440" cy="1097280"/>
          </a:xfrm>
          <a:prstGeom prst="rect">
            <a:avLst/>
          </a:prstGeom>
          <a:solidFill>
            <a:srgbClr val="7FA97C"/>
          </a:solidFill>
          <a:ln w="12700">
            <a:solidFill>
              <a:srgbClr val="7FA9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219456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PCF estimation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46520" y="260604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supply-chain data, domain-specific carbon models.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3383280"/>
            <a:ext cx="5440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3383280"/>
            <a:ext cx="91440" cy="1097280"/>
          </a:xfrm>
          <a:prstGeom prst="rect">
            <a:avLst/>
          </a:prstGeom>
          <a:solidFill>
            <a:srgbClr val="7FA97C"/>
          </a:solidFill>
          <a:ln w="12700">
            <a:solidFill>
              <a:srgbClr val="7FA9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347472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multi-objective training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46520" y="388620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term as a training loss, not only a re-ranking score.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0" y="4663440"/>
            <a:ext cx="5440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4663440"/>
            <a:ext cx="91440" cy="1097280"/>
          </a:xfrm>
          <a:prstGeom prst="rect">
            <a:avLst/>
          </a:prstGeom>
          <a:solidFill>
            <a:srgbClr val="7FA97C"/>
          </a:solidFill>
          <a:ln w="12700">
            <a:solidFill>
              <a:srgbClr val="7FA9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475488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studies and online A/B tests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46520" y="516636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real purchase response, transparency, and explanations.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9525">
            <a:solidFill>
              <a:srgbClr val="D8D3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Engagement for Sustainability  |  CS294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852160"/>
            <a:ext cx="12161520" cy="91440"/>
          </a:xfrm>
          <a:prstGeom prst="rect">
            <a:avLst/>
          </a:prstGeom>
          <a:solidFill>
            <a:srgbClr val="7FA97C"/>
          </a:solidFill>
          <a:ln w="12700">
            <a:solidFill>
              <a:srgbClr val="7FA9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7F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640080" y="4754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FA9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Trading Engagement for Sustainability — Carbon-Aware Re-ranking for E-commerce Recommendations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3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github.com/andersvestrum/carbon-aware-recsys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Trading Engagement for Sustainability</dc:title>
  <dc:subject>PptxGenJS Presentation</dc:subject>
  <dc:creator>Anders Vestrum, Jørgen Bergh, Noah Lund Syrdal</dc:creator>
  <cp:lastModifiedBy>Anders Vestrum, Jørgen Bergh, Noah Lund Syrdal</cp:lastModifiedBy>
  <cp:revision>1</cp:revision>
  <dcterms:created xsi:type="dcterms:W3CDTF">2026-04-16T23:49:34Z</dcterms:created>
  <dcterms:modified xsi:type="dcterms:W3CDTF">2026-04-16T23:49:34Z</dcterms:modified>
</cp:coreProperties>
</file>